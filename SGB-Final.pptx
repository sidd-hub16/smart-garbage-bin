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708" r:id="rId1"/>
  </p:sldMasterIdLst>
  <p:notesMasterIdLst>
    <p:notesMasterId r:id="rId23"/>
  </p:notesMasterIdLst>
  <p:sldIdLst>
    <p:sldId id="256" r:id="rId2"/>
    <p:sldId id="289" r:id="rId3"/>
    <p:sldId id="286" r:id="rId4"/>
    <p:sldId id="306" r:id="rId5"/>
    <p:sldId id="288" r:id="rId6"/>
    <p:sldId id="298" r:id="rId7"/>
    <p:sldId id="290" r:id="rId8"/>
    <p:sldId id="291" r:id="rId9"/>
    <p:sldId id="294" r:id="rId10"/>
    <p:sldId id="296" r:id="rId11"/>
    <p:sldId id="300" r:id="rId12"/>
    <p:sldId id="301" r:id="rId13"/>
    <p:sldId id="297" r:id="rId14"/>
    <p:sldId id="302" r:id="rId15"/>
    <p:sldId id="303" r:id="rId16"/>
    <p:sldId id="307" r:id="rId17"/>
    <p:sldId id="304" r:id="rId18"/>
    <p:sldId id="305" r:id="rId19"/>
    <p:sldId id="285" r:id="rId20"/>
    <p:sldId id="293" r:id="rId21"/>
    <p:sldId id="29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12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E8CD"/>
    <a:srgbClr val="EBE60A"/>
    <a:srgbClr val="B3ABED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3" autoAdjust="0"/>
    <p:restoredTop sz="95033" autoAdjust="0"/>
  </p:normalViewPr>
  <p:slideViewPr>
    <p:cSldViewPr snapToGrid="0" showGuides="1">
      <p:cViewPr varScale="1">
        <p:scale>
          <a:sx n="69" d="100"/>
          <a:sy n="69" d="100"/>
        </p:scale>
        <p:origin x="1464" y="60"/>
      </p:cViewPr>
      <p:guideLst>
        <p:guide orient="horz" pos="36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7B3E86-3106-440B-B922-DE7BDE92719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D3881C-8A62-4DFC-B700-B73E142E9DCE}">
      <dgm:prSet/>
      <dgm:spPr/>
      <dgm:t>
        <a:bodyPr/>
        <a:lstStyle/>
        <a:p>
          <a:r>
            <a:rPr lang="en-IN" dirty="0"/>
            <a:t>ESP32 Board</a:t>
          </a:r>
          <a:endParaRPr lang="en-US" dirty="0"/>
        </a:p>
      </dgm:t>
    </dgm:pt>
    <dgm:pt modelId="{2BE8083B-E17B-4D3B-AE31-FBDA35CABCDE}" type="parTrans" cxnId="{29F6C47D-A130-4F27-8DC2-8C0D699FC34C}">
      <dgm:prSet/>
      <dgm:spPr/>
      <dgm:t>
        <a:bodyPr/>
        <a:lstStyle/>
        <a:p>
          <a:endParaRPr lang="en-US"/>
        </a:p>
      </dgm:t>
    </dgm:pt>
    <dgm:pt modelId="{397ED488-8141-4181-8D27-9DE86AE701AD}" type="sibTrans" cxnId="{29F6C47D-A130-4F27-8DC2-8C0D699FC34C}">
      <dgm:prSet/>
      <dgm:spPr/>
      <dgm:t>
        <a:bodyPr/>
        <a:lstStyle/>
        <a:p>
          <a:endParaRPr lang="en-US"/>
        </a:p>
      </dgm:t>
    </dgm:pt>
    <dgm:pt modelId="{1872BC8D-8E07-4DE1-8861-C380EFEFCDFE}">
      <dgm:prSet/>
      <dgm:spPr/>
      <dgm:t>
        <a:bodyPr/>
        <a:lstStyle/>
        <a:p>
          <a:r>
            <a:rPr lang="en-IN" dirty="0"/>
            <a:t>Ultrasonic Sensor (HC-SR04)</a:t>
          </a:r>
          <a:endParaRPr lang="en-US" dirty="0"/>
        </a:p>
      </dgm:t>
    </dgm:pt>
    <dgm:pt modelId="{BF60A8D1-76DD-4BE6-A421-09CD82BB7F33}" type="parTrans" cxnId="{672C030D-949A-4C9D-85F8-652E5C442E89}">
      <dgm:prSet/>
      <dgm:spPr/>
      <dgm:t>
        <a:bodyPr/>
        <a:lstStyle/>
        <a:p>
          <a:endParaRPr lang="en-US"/>
        </a:p>
      </dgm:t>
    </dgm:pt>
    <dgm:pt modelId="{7658E80D-6B2B-4CED-B4FD-5A849FF7F7CA}" type="sibTrans" cxnId="{672C030D-949A-4C9D-85F8-652E5C442E89}">
      <dgm:prSet/>
      <dgm:spPr/>
      <dgm:t>
        <a:bodyPr/>
        <a:lstStyle/>
        <a:p>
          <a:endParaRPr lang="en-US"/>
        </a:p>
      </dgm:t>
    </dgm:pt>
    <dgm:pt modelId="{D29B55C7-F579-4F21-88E5-6EF29E913C83}">
      <dgm:prSet/>
      <dgm:spPr/>
      <dgm:t>
        <a:bodyPr/>
        <a:lstStyle/>
        <a:p>
          <a:r>
            <a:rPr lang="en-IN"/>
            <a:t>Jumper Wires</a:t>
          </a:r>
          <a:endParaRPr lang="en-US"/>
        </a:p>
      </dgm:t>
    </dgm:pt>
    <dgm:pt modelId="{598F2854-4797-41CC-989C-1CBB052BC109}" type="parTrans" cxnId="{2C195D49-F904-4B4A-86D6-53ECA5B988CA}">
      <dgm:prSet/>
      <dgm:spPr/>
      <dgm:t>
        <a:bodyPr/>
        <a:lstStyle/>
        <a:p>
          <a:endParaRPr lang="en-US"/>
        </a:p>
      </dgm:t>
    </dgm:pt>
    <dgm:pt modelId="{4D853A29-8860-4F0A-B39A-996CD152CD05}" type="sibTrans" cxnId="{2C195D49-F904-4B4A-86D6-53ECA5B988CA}">
      <dgm:prSet/>
      <dgm:spPr/>
      <dgm:t>
        <a:bodyPr/>
        <a:lstStyle/>
        <a:p>
          <a:endParaRPr lang="en-US"/>
        </a:p>
      </dgm:t>
    </dgm:pt>
    <dgm:pt modelId="{4CF79016-0B3D-4D8F-9729-DE1C78B43517}">
      <dgm:prSet/>
      <dgm:spPr/>
      <dgm:t>
        <a:bodyPr/>
        <a:lstStyle/>
        <a:p>
          <a:r>
            <a:rPr lang="en-IN" dirty="0"/>
            <a:t>Power Supply (Power Bank)</a:t>
          </a:r>
          <a:endParaRPr lang="en-US" dirty="0"/>
        </a:p>
      </dgm:t>
    </dgm:pt>
    <dgm:pt modelId="{3B195F86-2341-4E62-A430-D9308336C7F1}" type="parTrans" cxnId="{679AFAA2-F9B8-4871-92B5-AEA862B00C4A}">
      <dgm:prSet/>
      <dgm:spPr/>
      <dgm:t>
        <a:bodyPr/>
        <a:lstStyle/>
        <a:p>
          <a:endParaRPr lang="en-US"/>
        </a:p>
      </dgm:t>
    </dgm:pt>
    <dgm:pt modelId="{3487124D-792F-4C0B-B5D5-287D8AE7D4EE}" type="sibTrans" cxnId="{679AFAA2-F9B8-4871-92B5-AEA862B00C4A}">
      <dgm:prSet/>
      <dgm:spPr/>
      <dgm:t>
        <a:bodyPr/>
        <a:lstStyle/>
        <a:p>
          <a:endParaRPr lang="en-US"/>
        </a:p>
      </dgm:t>
    </dgm:pt>
    <dgm:pt modelId="{370F2103-2AFD-42FA-914A-3E9D952AB818}">
      <dgm:prSet/>
      <dgm:spPr/>
      <dgm:t>
        <a:bodyPr/>
        <a:lstStyle/>
        <a:p>
          <a:r>
            <a:rPr lang="en-IN"/>
            <a:t>dustbin</a:t>
          </a:r>
          <a:endParaRPr lang="en-US"/>
        </a:p>
      </dgm:t>
    </dgm:pt>
    <dgm:pt modelId="{1F04D42A-67AB-450E-B542-DE49F6674AF1}" type="parTrans" cxnId="{F78D7A3F-82FF-47C3-A99F-39AD92C2BA6A}">
      <dgm:prSet/>
      <dgm:spPr/>
      <dgm:t>
        <a:bodyPr/>
        <a:lstStyle/>
        <a:p>
          <a:endParaRPr lang="en-US"/>
        </a:p>
      </dgm:t>
    </dgm:pt>
    <dgm:pt modelId="{0EC72454-58C2-49AF-8FF0-659FEB9EE6F4}" type="sibTrans" cxnId="{F78D7A3F-82FF-47C3-A99F-39AD92C2BA6A}">
      <dgm:prSet/>
      <dgm:spPr/>
      <dgm:t>
        <a:bodyPr/>
        <a:lstStyle/>
        <a:p>
          <a:endParaRPr lang="en-US"/>
        </a:p>
      </dgm:t>
    </dgm:pt>
    <dgm:pt modelId="{AB6A5E82-08B1-49BA-B08D-E6858CA05BDE}" type="pres">
      <dgm:prSet presAssocID="{847B3E86-3106-440B-B922-DE7BDE92719B}" presName="vert0" presStyleCnt="0">
        <dgm:presLayoutVars>
          <dgm:dir/>
          <dgm:animOne val="branch"/>
          <dgm:animLvl val="lvl"/>
        </dgm:presLayoutVars>
      </dgm:prSet>
      <dgm:spPr/>
    </dgm:pt>
    <dgm:pt modelId="{A111F3C4-D812-4CC9-A097-6AC28F78CE53}" type="pres">
      <dgm:prSet presAssocID="{A7D3881C-8A62-4DFC-B700-B73E142E9DCE}" presName="thickLine" presStyleLbl="alignNode1" presStyleIdx="0" presStyleCnt="5"/>
      <dgm:spPr/>
    </dgm:pt>
    <dgm:pt modelId="{C58C8BC0-2FD2-4BEA-B81F-19C9A60824F0}" type="pres">
      <dgm:prSet presAssocID="{A7D3881C-8A62-4DFC-B700-B73E142E9DCE}" presName="horz1" presStyleCnt="0"/>
      <dgm:spPr/>
    </dgm:pt>
    <dgm:pt modelId="{C9928BA1-8831-41F5-9396-C444B919E4EF}" type="pres">
      <dgm:prSet presAssocID="{A7D3881C-8A62-4DFC-B700-B73E142E9DCE}" presName="tx1" presStyleLbl="revTx" presStyleIdx="0" presStyleCnt="5"/>
      <dgm:spPr/>
    </dgm:pt>
    <dgm:pt modelId="{61054875-B377-4F7F-8342-346AB39F0A6F}" type="pres">
      <dgm:prSet presAssocID="{A7D3881C-8A62-4DFC-B700-B73E142E9DCE}" presName="vert1" presStyleCnt="0"/>
      <dgm:spPr/>
    </dgm:pt>
    <dgm:pt modelId="{B069FDA5-D991-4DE3-8EE6-6C9D4A91D18C}" type="pres">
      <dgm:prSet presAssocID="{1872BC8D-8E07-4DE1-8861-C380EFEFCDFE}" presName="thickLine" presStyleLbl="alignNode1" presStyleIdx="1" presStyleCnt="5"/>
      <dgm:spPr/>
    </dgm:pt>
    <dgm:pt modelId="{0407FC34-6046-452E-8C71-5F9EDB62424F}" type="pres">
      <dgm:prSet presAssocID="{1872BC8D-8E07-4DE1-8861-C380EFEFCDFE}" presName="horz1" presStyleCnt="0"/>
      <dgm:spPr/>
    </dgm:pt>
    <dgm:pt modelId="{D710786E-599A-4D20-85BF-5A4D7931505E}" type="pres">
      <dgm:prSet presAssocID="{1872BC8D-8E07-4DE1-8861-C380EFEFCDFE}" presName="tx1" presStyleLbl="revTx" presStyleIdx="1" presStyleCnt="5"/>
      <dgm:spPr/>
    </dgm:pt>
    <dgm:pt modelId="{7F9C7754-8A4E-4251-8B23-F931EF46F1F1}" type="pres">
      <dgm:prSet presAssocID="{1872BC8D-8E07-4DE1-8861-C380EFEFCDFE}" presName="vert1" presStyleCnt="0"/>
      <dgm:spPr/>
    </dgm:pt>
    <dgm:pt modelId="{964475D9-23E6-410A-81BD-DF60C90FE7A7}" type="pres">
      <dgm:prSet presAssocID="{D29B55C7-F579-4F21-88E5-6EF29E913C83}" presName="thickLine" presStyleLbl="alignNode1" presStyleIdx="2" presStyleCnt="5"/>
      <dgm:spPr/>
    </dgm:pt>
    <dgm:pt modelId="{D04C2FA8-35FA-4309-98BB-4E60EE4E2B72}" type="pres">
      <dgm:prSet presAssocID="{D29B55C7-F579-4F21-88E5-6EF29E913C83}" presName="horz1" presStyleCnt="0"/>
      <dgm:spPr/>
    </dgm:pt>
    <dgm:pt modelId="{C071E241-588E-4799-975F-61D3F4718EB8}" type="pres">
      <dgm:prSet presAssocID="{D29B55C7-F579-4F21-88E5-6EF29E913C83}" presName="tx1" presStyleLbl="revTx" presStyleIdx="2" presStyleCnt="5"/>
      <dgm:spPr/>
    </dgm:pt>
    <dgm:pt modelId="{352CF6AF-D97C-4473-A8AE-13CF7F0DEA4C}" type="pres">
      <dgm:prSet presAssocID="{D29B55C7-F579-4F21-88E5-6EF29E913C83}" presName="vert1" presStyleCnt="0"/>
      <dgm:spPr/>
    </dgm:pt>
    <dgm:pt modelId="{96EEA08C-345E-4761-9460-F00E9E2847AA}" type="pres">
      <dgm:prSet presAssocID="{4CF79016-0B3D-4D8F-9729-DE1C78B43517}" presName="thickLine" presStyleLbl="alignNode1" presStyleIdx="3" presStyleCnt="5"/>
      <dgm:spPr/>
    </dgm:pt>
    <dgm:pt modelId="{C6644756-EE08-4D46-BDB2-BD354293CC04}" type="pres">
      <dgm:prSet presAssocID="{4CF79016-0B3D-4D8F-9729-DE1C78B43517}" presName="horz1" presStyleCnt="0"/>
      <dgm:spPr/>
    </dgm:pt>
    <dgm:pt modelId="{C676B6E3-2816-4DC4-ABFF-A6AB9562C6E9}" type="pres">
      <dgm:prSet presAssocID="{4CF79016-0B3D-4D8F-9729-DE1C78B43517}" presName="tx1" presStyleLbl="revTx" presStyleIdx="3" presStyleCnt="5"/>
      <dgm:spPr/>
    </dgm:pt>
    <dgm:pt modelId="{2F0D5026-510D-41EE-827B-FF6780657564}" type="pres">
      <dgm:prSet presAssocID="{4CF79016-0B3D-4D8F-9729-DE1C78B43517}" presName="vert1" presStyleCnt="0"/>
      <dgm:spPr/>
    </dgm:pt>
    <dgm:pt modelId="{E8458119-4803-4CC5-9F8D-8880FEB4F9E5}" type="pres">
      <dgm:prSet presAssocID="{370F2103-2AFD-42FA-914A-3E9D952AB818}" presName="thickLine" presStyleLbl="alignNode1" presStyleIdx="4" presStyleCnt="5"/>
      <dgm:spPr/>
    </dgm:pt>
    <dgm:pt modelId="{5725FC37-B922-45C0-B447-488A61B2F976}" type="pres">
      <dgm:prSet presAssocID="{370F2103-2AFD-42FA-914A-3E9D952AB818}" presName="horz1" presStyleCnt="0"/>
      <dgm:spPr/>
    </dgm:pt>
    <dgm:pt modelId="{D582B890-E062-4B90-927E-92C07E301160}" type="pres">
      <dgm:prSet presAssocID="{370F2103-2AFD-42FA-914A-3E9D952AB818}" presName="tx1" presStyleLbl="revTx" presStyleIdx="4" presStyleCnt="5"/>
      <dgm:spPr/>
    </dgm:pt>
    <dgm:pt modelId="{FF3D4D6C-9181-4611-93C8-1401D4E2644B}" type="pres">
      <dgm:prSet presAssocID="{370F2103-2AFD-42FA-914A-3E9D952AB818}" presName="vert1" presStyleCnt="0"/>
      <dgm:spPr/>
    </dgm:pt>
  </dgm:ptLst>
  <dgm:cxnLst>
    <dgm:cxn modelId="{672C030D-949A-4C9D-85F8-652E5C442E89}" srcId="{847B3E86-3106-440B-B922-DE7BDE92719B}" destId="{1872BC8D-8E07-4DE1-8861-C380EFEFCDFE}" srcOrd="1" destOrd="0" parTransId="{BF60A8D1-76DD-4BE6-A421-09CD82BB7F33}" sibTransId="{7658E80D-6B2B-4CED-B4FD-5A849FF7F7CA}"/>
    <dgm:cxn modelId="{2B50AA1E-4DC2-45B0-B44A-24BC42D97BB4}" type="presOf" srcId="{A7D3881C-8A62-4DFC-B700-B73E142E9DCE}" destId="{C9928BA1-8831-41F5-9396-C444B919E4EF}" srcOrd="0" destOrd="0" presId="urn:microsoft.com/office/officeart/2008/layout/LinedList"/>
    <dgm:cxn modelId="{2739203E-0857-464B-BC74-1F909FAA202C}" type="presOf" srcId="{847B3E86-3106-440B-B922-DE7BDE92719B}" destId="{AB6A5E82-08B1-49BA-B08D-E6858CA05BDE}" srcOrd="0" destOrd="0" presId="urn:microsoft.com/office/officeart/2008/layout/LinedList"/>
    <dgm:cxn modelId="{F78D7A3F-82FF-47C3-A99F-39AD92C2BA6A}" srcId="{847B3E86-3106-440B-B922-DE7BDE92719B}" destId="{370F2103-2AFD-42FA-914A-3E9D952AB818}" srcOrd="4" destOrd="0" parTransId="{1F04D42A-67AB-450E-B542-DE49F6674AF1}" sibTransId="{0EC72454-58C2-49AF-8FF0-659FEB9EE6F4}"/>
    <dgm:cxn modelId="{77368742-33CE-4772-9341-CD8C55E3F3BD}" type="presOf" srcId="{370F2103-2AFD-42FA-914A-3E9D952AB818}" destId="{D582B890-E062-4B90-927E-92C07E301160}" srcOrd="0" destOrd="0" presId="urn:microsoft.com/office/officeart/2008/layout/LinedList"/>
    <dgm:cxn modelId="{2C195D49-F904-4B4A-86D6-53ECA5B988CA}" srcId="{847B3E86-3106-440B-B922-DE7BDE92719B}" destId="{D29B55C7-F579-4F21-88E5-6EF29E913C83}" srcOrd="2" destOrd="0" parTransId="{598F2854-4797-41CC-989C-1CBB052BC109}" sibTransId="{4D853A29-8860-4F0A-B39A-996CD152CD05}"/>
    <dgm:cxn modelId="{29F6C47D-A130-4F27-8DC2-8C0D699FC34C}" srcId="{847B3E86-3106-440B-B922-DE7BDE92719B}" destId="{A7D3881C-8A62-4DFC-B700-B73E142E9DCE}" srcOrd="0" destOrd="0" parTransId="{2BE8083B-E17B-4D3B-AE31-FBDA35CABCDE}" sibTransId="{397ED488-8141-4181-8D27-9DE86AE701AD}"/>
    <dgm:cxn modelId="{679AFAA2-F9B8-4871-92B5-AEA862B00C4A}" srcId="{847B3E86-3106-440B-B922-DE7BDE92719B}" destId="{4CF79016-0B3D-4D8F-9729-DE1C78B43517}" srcOrd="3" destOrd="0" parTransId="{3B195F86-2341-4E62-A430-D9308336C7F1}" sibTransId="{3487124D-792F-4C0B-B5D5-287D8AE7D4EE}"/>
    <dgm:cxn modelId="{564919C1-B169-47E0-BD33-B9E63D147461}" type="presOf" srcId="{D29B55C7-F579-4F21-88E5-6EF29E913C83}" destId="{C071E241-588E-4799-975F-61D3F4718EB8}" srcOrd="0" destOrd="0" presId="urn:microsoft.com/office/officeart/2008/layout/LinedList"/>
    <dgm:cxn modelId="{1BBE76C4-3527-4DC3-B71E-DAAE94F701E9}" type="presOf" srcId="{4CF79016-0B3D-4D8F-9729-DE1C78B43517}" destId="{C676B6E3-2816-4DC4-ABFF-A6AB9562C6E9}" srcOrd="0" destOrd="0" presId="urn:microsoft.com/office/officeart/2008/layout/LinedList"/>
    <dgm:cxn modelId="{53F180E7-CA8F-4EA2-9DBE-3247364ED4E0}" type="presOf" srcId="{1872BC8D-8E07-4DE1-8861-C380EFEFCDFE}" destId="{D710786E-599A-4D20-85BF-5A4D7931505E}" srcOrd="0" destOrd="0" presId="urn:microsoft.com/office/officeart/2008/layout/LinedList"/>
    <dgm:cxn modelId="{62564CEE-15B2-451A-9C4A-FA2540F25FFB}" type="presParOf" srcId="{AB6A5E82-08B1-49BA-B08D-E6858CA05BDE}" destId="{A111F3C4-D812-4CC9-A097-6AC28F78CE53}" srcOrd="0" destOrd="0" presId="urn:microsoft.com/office/officeart/2008/layout/LinedList"/>
    <dgm:cxn modelId="{CF023552-E1F3-45D7-B70B-33C833A89ED9}" type="presParOf" srcId="{AB6A5E82-08B1-49BA-B08D-E6858CA05BDE}" destId="{C58C8BC0-2FD2-4BEA-B81F-19C9A60824F0}" srcOrd="1" destOrd="0" presId="urn:microsoft.com/office/officeart/2008/layout/LinedList"/>
    <dgm:cxn modelId="{9A2A8666-D8C1-405F-89F4-4FFA03C93265}" type="presParOf" srcId="{C58C8BC0-2FD2-4BEA-B81F-19C9A60824F0}" destId="{C9928BA1-8831-41F5-9396-C444B919E4EF}" srcOrd="0" destOrd="0" presId="urn:microsoft.com/office/officeart/2008/layout/LinedList"/>
    <dgm:cxn modelId="{9750ABD2-31F1-4086-A732-9DD6B6C9C445}" type="presParOf" srcId="{C58C8BC0-2FD2-4BEA-B81F-19C9A60824F0}" destId="{61054875-B377-4F7F-8342-346AB39F0A6F}" srcOrd="1" destOrd="0" presId="urn:microsoft.com/office/officeart/2008/layout/LinedList"/>
    <dgm:cxn modelId="{72ED9C24-A9B6-4EC4-86A1-00A01B576CE5}" type="presParOf" srcId="{AB6A5E82-08B1-49BA-B08D-E6858CA05BDE}" destId="{B069FDA5-D991-4DE3-8EE6-6C9D4A91D18C}" srcOrd="2" destOrd="0" presId="urn:microsoft.com/office/officeart/2008/layout/LinedList"/>
    <dgm:cxn modelId="{C68AB173-556F-4E60-A1CA-E6420CB15C6C}" type="presParOf" srcId="{AB6A5E82-08B1-49BA-B08D-E6858CA05BDE}" destId="{0407FC34-6046-452E-8C71-5F9EDB62424F}" srcOrd="3" destOrd="0" presId="urn:microsoft.com/office/officeart/2008/layout/LinedList"/>
    <dgm:cxn modelId="{175164BC-881C-4ABE-A533-2D3CC5823599}" type="presParOf" srcId="{0407FC34-6046-452E-8C71-5F9EDB62424F}" destId="{D710786E-599A-4D20-85BF-5A4D7931505E}" srcOrd="0" destOrd="0" presId="urn:microsoft.com/office/officeart/2008/layout/LinedList"/>
    <dgm:cxn modelId="{98536F0B-0CC4-4EED-B890-8DE8ECE70554}" type="presParOf" srcId="{0407FC34-6046-452E-8C71-5F9EDB62424F}" destId="{7F9C7754-8A4E-4251-8B23-F931EF46F1F1}" srcOrd="1" destOrd="0" presId="urn:microsoft.com/office/officeart/2008/layout/LinedList"/>
    <dgm:cxn modelId="{0E8C4C7F-5D9A-4739-AA37-7E16058010D4}" type="presParOf" srcId="{AB6A5E82-08B1-49BA-B08D-E6858CA05BDE}" destId="{964475D9-23E6-410A-81BD-DF60C90FE7A7}" srcOrd="4" destOrd="0" presId="urn:microsoft.com/office/officeart/2008/layout/LinedList"/>
    <dgm:cxn modelId="{A004BEAF-03CF-415B-8834-D05F58317E96}" type="presParOf" srcId="{AB6A5E82-08B1-49BA-B08D-E6858CA05BDE}" destId="{D04C2FA8-35FA-4309-98BB-4E60EE4E2B72}" srcOrd="5" destOrd="0" presId="urn:microsoft.com/office/officeart/2008/layout/LinedList"/>
    <dgm:cxn modelId="{68DE8FEF-C677-4167-9D95-27532E766A3D}" type="presParOf" srcId="{D04C2FA8-35FA-4309-98BB-4E60EE4E2B72}" destId="{C071E241-588E-4799-975F-61D3F4718EB8}" srcOrd="0" destOrd="0" presId="urn:microsoft.com/office/officeart/2008/layout/LinedList"/>
    <dgm:cxn modelId="{EF308095-FB33-4A46-923D-3D68ECC29B15}" type="presParOf" srcId="{D04C2FA8-35FA-4309-98BB-4E60EE4E2B72}" destId="{352CF6AF-D97C-4473-A8AE-13CF7F0DEA4C}" srcOrd="1" destOrd="0" presId="urn:microsoft.com/office/officeart/2008/layout/LinedList"/>
    <dgm:cxn modelId="{F2126420-4E92-4BEC-A88E-8E0ACC3AF353}" type="presParOf" srcId="{AB6A5E82-08B1-49BA-B08D-E6858CA05BDE}" destId="{96EEA08C-345E-4761-9460-F00E9E2847AA}" srcOrd="6" destOrd="0" presId="urn:microsoft.com/office/officeart/2008/layout/LinedList"/>
    <dgm:cxn modelId="{3251E0F6-8211-4100-9876-6FC15E956EE3}" type="presParOf" srcId="{AB6A5E82-08B1-49BA-B08D-E6858CA05BDE}" destId="{C6644756-EE08-4D46-BDB2-BD354293CC04}" srcOrd="7" destOrd="0" presId="urn:microsoft.com/office/officeart/2008/layout/LinedList"/>
    <dgm:cxn modelId="{24ED1AEA-DFC9-4AAF-A839-AE1E8DE604F1}" type="presParOf" srcId="{C6644756-EE08-4D46-BDB2-BD354293CC04}" destId="{C676B6E3-2816-4DC4-ABFF-A6AB9562C6E9}" srcOrd="0" destOrd="0" presId="urn:microsoft.com/office/officeart/2008/layout/LinedList"/>
    <dgm:cxn modelId="{FAF4111A-9869-402F-908C-01DCB1590490}" type="presParOf" srcId="{C6644756-EE08-4D46-BDB2-BD354293CC04}" destId="{2F0D5026-510D-41EE-827B-FF6780657564}" srcOrd="1" destOrd="0" presId="urn:microsoft.com/office/officeart/2008/layout/LinedList"/>
    <dgm:cxn modelId="{2456684F-328C-472D-A579-2D8F46FC343F}" type="presParOf" srcId="{AB6A5E82-08B1-49BA-B08D-E6858CA05BDE}" destId="{E8458119-4803-4CC5-9F8D-8880FEB4F9E5}" srcOrd="8" destOrd="0" presId="urn:microsoft.com/office/officeart/2008/layout/LinedList"/>
    <dgm:cxn modelId="{22DE8284-DA8C-4587-B23D-EFEDEE9B6D08}" type="presParOf" srcId="{AB6A5E82-08B1-49BA-B08D-E6858CA05BDE}" destId="{5725FC37-B922-45C0-B447-488A61B2F976}" srcOrd="9" destOrd="0" presId="urn:microsoft.com/office/officeart/2008/layout/LinedList"/>
    <dgm:cxn modelId="{F0EE23B2-253C-416C-AEB9-16CFB6E38754}" type="presParOf" srcId="{5725FC37-B922-45C0-B447-488A61B2F976}" destId="{D582B890-E062-4B90-927E-92C07E301160}" srcOrd="0" destOrd="0" presId="urn:microsoft.com/office/officeart/2008/layout/LinedList"/>
    <dgm:cxn modelId="{67D7F94C-4FE4-45AD-B497-DBE4F21028AA}" type="presParOf" srcId="{5725FC37-B922-45C0-B447-488A61B2F976}" destId="{FF3D4D6C-9181-4611-93C8-1401D4E264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11F3C4-D812-4CC9-A097-6AC28F78CE53}">
      <dsp:nvSpPr>
        <dsp:cNvPr id="0" name=""/>
        <dsp:cNvSpPr/>
      </dsp:nvSpPr>
      <dsp:spPr>
        <a:xfrm>
          <a:off x="0" y="502"/>
          <a:ext cx="358897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28BA1-8831-41F5-9396-C444B919E4EF}">
      <dsp:nvSpPr>
        <dsp:cNvPr id="0" name=""/>
        <dsp:cNvSpPr/>
      </dsp:nvSpPr>
      <dsp:spPr>
        <a:xfrm>
          <a:off x="0" y="502"/>
          <a:ext cx="3588971" cy="822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ESP32 Board</a:t>
          </a:r>
          <a:endParaRPr lang="en-US" sz="2300" kern="1200" dirty="0"/>
        </a:p>
      </dsp:txBody>
      <dsp:txXfrm>
        <a:off x="0" y="502"/>
        <a:ext cx="3588971" cy="822606"/>
      </dsp:txXfrm>
    </dsp:sp>
    <dsp:sp modelId="{B069FDA5-D991-4DE3-8EE6-6C9D4A91D18C}">
      <dsp:nvSpPr>
        <dsp:cNvPr id="0" name=""/>
        <dsp:cNvSpPr/>
      </dsp:nvSpPr>
      <dsp:spPr>
        <a:xfrm>
          <a:off x="0" y="823108"/>
          <a:ext cx="358897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10786E-599A-4D20-85BF-5A4D7931505E}">
      <dsp:nvSpPr>
        <dsp:cNvPr id="0" name=""/>
        <dsp:cNvSpPr/>
      </dsp:nvSpPr>
      <dsp:spPr>
        <a:xfrm>
          <a:off x="0" y="823108"/>
          <a:ext cx="3588971" cy="822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Ultrasonic Sensor (HC-SR04)</a:t>
          </a:r>
          <a:endParaRPr lang="en-US" sz="2300" kern="1200" dirty="0"/>
        </a:p>
      </dsp:txBody>
      <dsp:txXfrm>
        <a:off x="0" y="823108"/>
        <a:ext cx="3588971" cy="822606"/>
      </dsp:txXfrm>
    </dsp:sp>
    <dsp:sp modelId="{964475D9-23E6-410A-81BD-DF60C90FE7A7}">
      <dsp:nvSpPr>
        <dsp:cNvPr id="0" name=""/>
        <dsp:cNvSpPr/>
      </dsp:nvSpPr>
      <dsp:spPr>
        <a:xfrm>
          <a:off x="0" y="1645715"/>
          <a:ext cx="358897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1E241-588E-4799-975F-61D3F4718EB8}">
      <dsp:nvSpPr>
        <dsp:cNvPr id="0" name=""/>
        <dsp:cNvSpPr/>
      </dsp:nvSpPr>
      <dsp:spPr>
        <a:xfrm>
          <a:off x="0" y="1645715"/>
          <a:ext cx="3588971" cy="822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Jumper Wires</a:t>
          </a:r>
          <a:endParaRPr lang="en-US" sz="2300" kern="1200"/>
        </a:p>
      </dsp:txBody>
      <dsp:txXfrm>
        <a:off x="0" y="1645715"/>
        <a:ext cx="3588971" cy="822606"/>
      </dsp:txXfrm>
    </dsp:sp>
    <dsp:sp modelId="{96EEA08C-345E-4761-9460-F00E9E2847AA}">
      <dsp:nvSpPr>
        <dsp:cNvPr id="0" name=""/>
        <dsp:cNvSpPr/>
      </dsp:nvSpPr>
      <dsp:spPr>
        <a:xfrm>
          <a:off x="0" y="2468322"/>
          <a:ext cx="358897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6B6E3-2816-4DC4-ABFF-A6AB9562C6E9}">
      <dsp:nvSpPr>
        <dsp:cNvPr id="0" name=""/>
        <dsp:cNvSpPr/>
      </dsp:nvSpPr>
      <dsp:spPr>
        <a:xfrm>
          <a:off x="0" y="2468322"/>
          <a:ext cx="3588971" cy="822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Power Supply (Power Bank)</a:t>
          </a:r>
          <a:endParaRPr lang="en-US" sz="2300" kern="1200" dirty="0"/>
        </a:p>
      </dsp:txBody>
      <dsp:txXfrm>
        <a:off x="0" y="2468322"/>
        <a:ext cx="3588971" cy="822606"/>
      </dsp:txXfrm>
    </dsp:sp>
    <dsp:sp modelId="{E8458119-4803-4CC5-9F8D-8880FEB4F9E5}">
      <dsp:nvSpPr>
        <dsp:cNvPr id="0" name=""/>
        <dsp:cNvSpPr/>
      </dsp:nvSpPr>
      <dsp:spPr>
        <a:xfrm>
          <a:off x="0" y="3290929"/>
          <a:ext cx="358897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2B890-E062-4B90-927E-92C07E301160}">
      <dsp:nvSpPr>
        <dsp:cNvPr id="0" name=""/>
        <dsp:cNvSpPr/>
      </dsp:nvSpPr>
      <dsp:spPr>
        <a:xfrm>
          <a:off x="0" y="3290929"/>
          <a:ext cx="3588971" cy="822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dustbin</a:t>
          </a:r>
          <a:endParaRPr lang="en-US" sz="2300" kern="1200"/>
        </a:p>
      </dsp:txBody>
      <dsp:txXfrm>
        <a:off x="0" y="3290929"/>
        <a:ext cx="3588971" cy="82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33452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EA1F-A3D2-558F-D390-8C35B098F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88D80-832D-EDC3-280F-2717F0DAA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6A67A-70A1-8234-5B60-76D3A3D6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A9A7D-D833-7058-4F78-9DC162344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F2345-D9F8-8E33-6096-3726CF40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0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BD40-FD03-6B5B-DED5-B4BE943D8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36D59-F98D-AC40-86D5-F168A8F67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4AA6C-318D-07DE-BF21-2117B3EB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2E109-30F7-88DE-D286-E614D5DA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AD078-1420-748D-1CBC-BCDBE3FA0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6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3EA92-D4D6-44B9-4930-67864B59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AD840-C266-A5CA-498F-265FAE1A6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7B569-9247-97B0-63CE-94A7E786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E7E10-1F3A-F123-92B0-F515D2E16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BA27E-F87D-27E2-4F85-DCAF21C2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8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EF0A-42C4-F3FA-5887-9D2A52BC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A4A8F-4F60-16C2-8A77-B7B1E3241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D415-79A7-E3C2-0416-303E52F0E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00375-549E-D47B-CFAA-E9598F2B5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1C73A-1011-FD20-C41A-F93EB0CA1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FD9AA-5ED4-4E22-D42E-4A2F62F4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2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F093-3DB5-0021-8773-A49F98DB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3A84B-EC07-98A1-2528-EFE198D6C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DC75D-16A6-DC03-E5B7-8B9A018DD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B515C-AF9C-3BE6-2206-9BB6EC98B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08ACB-6FDF-8BD9-3747-0CA670594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E9682D-68FA-2EE3-AE66-F4FDD93E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B03DF4-5FC3-8A39-A3F6-6F09ACEC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4C3684-36A6-0675-0652-5AF4E224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18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AD579-B393-8BE3-D7A3-948898F2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5C5FF-0DE2-6CFA-02D7-ACE77A04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47E30-69C9-2EE1-1328-29D854F4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933E8-8B4D-F5EF-6829-D6ECA9F0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18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5A1624-096E-8535-EDE5-06C633B0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94272-8909-608E-E8E9-042253F8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FE361-72E8-8AC6-298B-6B0996C08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7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5ABE6-A0CD-67FF-BDBC-8C0242AC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24145-2C30-DB85-D4D0-427D7C983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1E792-B845-0A2B-E5D8-1380C1B57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3799E-08C0-FC86-BE92-55A56211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73D96-2DE6-2C2C-D47B-4D82516B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6FD5B-6FDA-E6F4-48C1-308A5B6A9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79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0BE3-15AA-4D06-6652-93F28898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E8D3E-FACA-10B5-802B-6613B0F73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D39FC-63A6-C64B-CD89-68A6485A1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3033B-71D5-1881-6D22-78B136E3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F5A6D-CA88-4CDE-838B-E6963698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BF7C3-4BFA-FA54-5AE7-11B1B1FD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355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257A-16CA-4F95-2021-113EBBB76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6CA34-E883-9438-6309-11D041257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65DF3-FE1F-105B-3A0E-13A2A06FB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0C580-E287-5C4E-DD06-991EB853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C8BD8-4D07-4F70-B592-96F80930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1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24BD1-5E3E-C711-8C06-77138D4EC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1EFA0-2BDE-8E9A-ABEF-5B4398075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FA927-0EDE-0BC8-FE81-E4D82DCDB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529BF-EB88-661C-08E8-8B82E63B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08733-C1FD-DF49-591E-1AFE7B86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32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582177-9A96-4EDA-AF78-A5E58E9F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7E8D4-2F7A-9513-93AC-D4DB6DCC8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5C308-5342-9CD4-A5ED-FFBABF83C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28F0E-A7C0-7638-BF0B-8B6D61479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0B92B-4733-8341-B087-ABC250DD1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3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1.jpe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0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77000"/>
          </a:schemeClr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ctrTitle"/>
          </p:nvPr>
        </p:nvSpPr>
        <p:spPr>
          <a:xfrm>
            <a:off x="802433" y="332868"/>
            <a:ext cx="5869616" cy="134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4000" b="1" u="sng" dirty="0">
                <a:latin typeface="Algerian" panose="04020705040A02060702" pitchFamily="82" charset="0"/>
                <a:cs typeface="Times New Roman" panose="02020603050405020304" pitchFamily="18" charset="0"/>
              </a:rPr>
              <a:t>DESIGN THINKING</a:t>
            </a:r>
            <a:br>
              <a:rPr lang="en-US" sz="4000" b="1" u="sng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4000" b="1" u="sng" dirty="0">
                <a:latin typeface="Algerian" panose="04020705040A02060702" pitchFamily="82" charset="0"/>
                <a:cs typeface="Times New Roman" panose="02020603050405020304" pitchFamily="18" charset="0"/>
              </a:rPr>
              <a:t>SMART</a:t>
            </a:r>
            <a:r>
              <a:rPr lang="en-US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</a:t>
            </a:r>
            <a:r>
              <a:rPr lang="en-US" sz="4000" b="1" u="sng" dirty="0">
                <a:latin typeface="Algerian" panose="04020705040A02060702" pitchFamily="82" charset="0"/>
                <a:cs typeface="Times New Roman" panose="02020603050405020304" pitchFamily="18" charset="0"/>
              </a:rPr>
              <a:t>GARBAGE</a:t>
            </a:r>
            <a:r>
              <a:rPr lang="en-US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</a:t>
            </a:r>
            <a:r>
              <a:rPr lang="en-US" sz="4000" b="1" u="sng" dirty="0">
                <a:latin typeface="Algerian" panose="04020705040A02060702" pitchFamily="82" charset="0"/>
                <a:cs typeface="Times New Roman" panose="02020603050405020304" pitchFamily="18" charset="0"/>
              </a:rPr>
              <a:t>BIN</a:t>
            </a:r>
          </a:p>
        </p:txBody>
      </p:sp>
      <p:sp>
        <p:nvSpPr>
          <p:cNvPr id="165" name="Google Shape;165;p25"/>
          <p:cNvSpPr txBox="1">
            <a:spLocks noGrp="1"/>
          </p:cNvSpPr>
          <p:nvPr>
            <p:ph type="subTitle" idx="1"/>
          </p:nvPr>
        </p:nvSpPr>
        <p:spPr>
          <a:xfrm>
            <a:off x="587829" y="1679510"/>
            <a:ext cx="5271796" cy="3788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en-US" sz="2000" b="1" i="1" u="sng" dirty="0"/>
              <a:t>TEAM NAME: </a:t>
            </a:r>
            <a:r>
              <a:rPr lang="en-US" sz="2000" b="1" i="1" u="sng" dirty="0">
                <a:solidFill>
                  <a:srgbClr val="FF0000"/>
                </a:solidFill>
              </a:rPr>
              <a:t>TECHNOLOGY VISION KNOWLEDGE</a:t>
            </a: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endParaRPr lang="en-US" sz="2000" b="1" i="1" u="sng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en-US" sz="2000" b="1" i="1" u="sng" dirty="0"/>
              <a:t>Team Members:</a:t>
            </a:r>
          </a:p>
          <a:p>
            <a:pPr algn="l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1. MOHITH J (210425106124)</a:t>
            </a:r>
          </a:p>
          <a:p>
            <a:pPr algn="l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2. NAVIENKUMAAR C (210425106138) </a:t>
            </a:r>
          </a:p>
          <a:p>
            <a:pPr algn="l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3. NITISH NARAYANAN G (210425106145)</a:t>
            </a:r>
          </a:p>
          <a:p>
            <a:pPr lvl="0" algn="l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4. SHRI SHYAM A.J (210425106218)</a:t>
            </a:r>
          </a:p>
          <a:p>
            <a:pPr lvl="0" algn="l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5. SIDDHARTH S (210425106221) </a:t>
            </a:r>
          </a:p>
          <a:p>
            <a:pPr lvl="0" algn="l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6. SIVANESAN D (210425106224) </a:t>
            </a:r>
          </a:p>
          <a:p>
            <a:pPr lvl="0" algn="l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000" dirty="0"/>
              <a:t>7. YUVANESH K.S (210425106269)</a:t>
            </a: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endParaRPr lang="en-US" sz="2000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endParaRPr lang="en-US" sz="2000"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endParaRPr lang="en-IN" sz="2000" dirty="0"/>
          </a:p>
        </p:txBody>
      </p:sp>
      <p:sp>
        <p:nvSpPr>
          <p:cNvPr id="166" name="Google Shape;166;p25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7" name="Google Shape;167;p25" descr="1583389585phpP9W1tB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096000"/>
            <a:ext cx="133984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2D384A-68A8-7D6C-D8A2-EAEC63D3A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61" t="13333" r="65568" b="22186"/>
          <a:stretch>
            <a:fillRect/>
          </a:stretch>
        </p:blipFill>
        <p:spPr>
          <a:xfrm>
            <a:off x="5673037" y="2360645"/>
            <a:ext cx="2801038" cy="3188716"/>
          </a:xfrm>
          <a:prstGeom prst="rect">
            <a:avLst/>
          </a:prstGeom>
          <a:ln w="28575">
            <a:noFill/>
          </a:ln>
        </p:spPr>
      </p:pic>
      <p:pic>
        <p:nvPicPr>
          <p:cNvPr id="1026" name="Picture 2" descr="Chennai Institute of Technology | Chennai">
            <a:extLst>
              <a:ext uri="{FF2B5EF4-FFF2-40B4-BE49-F238E27FC236}">
                <a16:creationId xmlns:a16="http://schemas.microsoft.com/office/drawing/2014/main" id="{FCC8011D-1E48-D72F-C0E5-88D8B2BB7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989" y="773760"/>
            <a:ext cx="1787500" cy="124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91D90EA-370F-7D05-8408-F3E102AB1084}"/>
              </a:ext>
            </a:extLst>
          </p:cNvPr>
          <p:cNvSpPr/>
          <p:nvPr/>
        </p:nvSpPr>
        <p:spPr>
          <a:xfrm>
            <a:off x="339213" y="425807"/>
            <a:ext cx="8478216" cy="5564446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18C059-44DA-AAC8-B5B7-43D9D3877F6D}"/>
              </a:ext>
            </a:extLst>
          </p:cNvPr>
          <p:cNvSpPr txBox="1"/>
          <p:nvPr/>
        </p:nvSpPr>
        <p:spPr>
          <a:xfrm>
            <a:off x="393290" y="25155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i="1" u="sng" dirty="0">
                <a:latin typeface="Bahnschrift" panose="020B0502040204020203" pitchFamily="34" charset="0"/>
              </a:rPr>
              <a:t> </a:t>
            </a:r>
            <a:r>
              <a:rPr lang="en-GB" sz="2400" b="1" i="1" u="sng" dirty="0">
                <a:solidFill>
                  <a:srgbClr val="FF0000"/>
                </a:solidFill>
                <a:latin typeface="Arial Black" panose="020B0A04020102020204" pitchFamily="34" charset="0"/>
              </a:rPr>
              <a:t>PROBLEM STATEMENT (EMPATHIZE &amp; DEFINE):</a:t>
            </a:r>
            <a:endParaRPr lang="en-IN" sz="2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2CCEB3-D04E-1609-0A0F-533B322104EC}"/>
              </a:ext>
            </a:extLst>
          </p:cNvPr>
          <p:cNvSpPr txBox="1"/>
          <p:nvPr/>
        </p:nvSpPr>
        <p:spPr>
          <a:xfrm>
            <a:off x="4572000" y="1431703"/>
            <a:ext cx="43655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+mj-lt"/>
              </a:rPr>
              <a:t>Municipal garbage bins often overflow due to fixed collection schedules.</a:t>
            </a:r>
          </a:p>
          <a:p>
            <a:endParaRPr lang="en-GB" sz="2400" dirty="0">
              <a:latin typeface="+mj-lt"/>
            </a:endParaRPr>
          </a:p>
          <a:p>
            <a:r>
              <a:rPr lang="en-GB" sz="2400" dirty="0">
                <a:latin typeface="+mj-lt"/>
              </a:rPr>
              <a:t>This causes:</a:t>
            </a:r>
          </a:p>
          <a:p>
            <a:r>
              <a:rPr lang="en-GB" sz="2400" dirty="0">
                <a:latin typeface="+mj-lt"/>
              </a:rPr>
              <a:t>- Unhygienic environment</a:t>
            </a:r>
          </a:p>
          <a:p>
            <a:r>
              <a:rPr lang="en-GB" sz="2400" dirty="0">
                <a:latin typeface="+mj-lt"/>
              </a:rPr>
              <a:t>- Bad smell and pollution</a:t>
            </a:r>
          </a:p>
          <a:p>
            <a:r>
              <a:rPr lang="en-GB" sz="2400" dirty="0">
                <a:latin typeface="+mj-lt"/>
              </a:rPr>
              <a:t>- Inefficient waste collection</a:t>
            </a:r>
          </a:p>
          <a:p>
            <a:r>
              <a:rPr lang="en-GB" sz="2400" dirty="0">
                <a:latin typeface="+mj-lt"/>
              </a:rPr>
              <a:t>- Wastage of fuel and         manpower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77FDBF-8EC4-86B8-3289-F0BA271AD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31106"/>
            <a:ext cx="9144000" cy="7268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C46CD3-FB1C-1652-9570-8405C53ACBC7}"/>
              </a:ext>
            </a:extLst>
          </p:cNvPr>
          <p:cNvSpPr/>
          <p:nvPr/>
        </p:nvSpPr>
        <p:spPr>
          <a:xfrm>
            <a:off x="206478" y="215029"/>
            <a:ext cx="8652387" cy="5775621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3DB204E-4484-3D83-E375-316B89EE2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7270" y="1207042"/>
            <a:ext cx="33239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4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67000"/>
          </a:srgbClr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ctrTitle"/>
          </p:nvPr>
        </p:nvSpPr>
        <p:spPr>
          <a:xfrm>
            <a:off x="585216" y="441326"/>
            <a:ext cx="7772400" cy="1131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4000" u="sng" dirty="0">
                <a:solidFill>
                  <a:srgbClr val="FF0000"/>
                </a:solidFill>
                <a:latin typeface="Arial Black" panose="020B0A04020102020204" pitchFamily="34" charset="0"/>
              </a:rPr>
              <a:t>SOLUTION(IDEATE)</a:t>
            </a:r>
            <a:r>
              <a:rPr lang="en-US" u="sng" dirty="0">
                <a:solidFill>
                  <a:srgbClr val="FF0000"/>
                </a:solidFill>
                <a:latin typeface="Arial Black" panose="020B0A04020102020204" pitchFamily="34" charset="0"/>
              </a:rPr>
              <a:t>:</a:t>
            </a:r>
            <a:endParaRPr lang="en-US" b="1" u="sng" dirty="0">
              <a:solidFill>
                <a:srgbClr val="FF0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5" name="Google Shape;165;p25"/>
          <p:cNvSpPr txBox="1">
            <a:spLocks noGrp="1"/>
          </p:cNvSpPr>
          <p:nvPr>
            <p:ph type="subTitle" idx="1"/>
          </p:nvPr>
        </p:nvSpPr>
        <p:spPr>
          <a:xfrm>
            <a:off x="373625" y="1445341"/>
            <a:ext cx="8514735" cy="4316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8300" indent="-342900" algn="l">
              <a:buFont typeface="Arial" panose="020B0604020202020204" pitchFamily="34" charset="0"/>
              <a:buChar char="•"/>
            </a:pPr>
            <a:r>
              <a:rPr lang="en-GB" sz="2000" dirty="0"/>
              <a:t>The proposed solution is an </a:t>
            </a:r>
            <a:r>
              <a:rPr lang="en-GB" sz="2000" b="1" dirty="0"/>
              <a:t>IoT-based Smart Garbage</a:t>
            </a:r>
          </a:p>
          <a:p>
            <a:pPr marL="25400" indent="0" algn="l"/>
            <a:r>
              <a:rPr lang="en-GB" sz="2000" b="1" dirty="0"/>
              <a:t>     Monitoring System</a:t>
            </a:r>
            <a:r>
              <a:rPr lang="en-GB" sz="2000" dirty="0"/>
              <a:t> that helps municipal authorities monitor the fill</a:t>
            </a:r>
          </a:p>
          <a:p>
            <a:pPr marL="25400" indent="0" algn="l"/>
            <a:r>
              <a:rPr lang="en-GB" sz="2000" dirty="0"/>
              <a:t>     level of garbage bins in real time. </a:t>
            </a:r>
          </a:p>
          <a:p>
            <a:pPr marL="25400" indent="0" algn="l"/>
            <a:r>
              <a:rPr lang="en-GB" sz="2000" dirty="0"/>
              <a:t>      </a:t>
            </a:r>
          </a:p>
          <a:p>
            <a:pPr marL="368300" indent="-342900" algn="l">
              <a:buFont typeface="Arial" panose="020B0604020202020204" pitchFamily="34" charset="0"/>
              <a:buChar char="•"/>
            </a:pPr>
            <a:r>
              <a:rPr lang="en-GB" sz="2000" dirty="0"/>
              <a:t>The system uses an </a:t>
            </a:r>
            <a:r>
              <a:rPr lang="en-GB" sz="2000" b="1" dirty="0"/>
              <a:t>ESP32 microcontroller</a:t>
            </a:r>
            <a:r>
              <a:rPr lang="en-GB" sz="2000" dirty="0"/>
              <a:t> and an </a:t>
            </a:r>
            <a:r>
              <a:rPr lang="en-GB" sz="2000" b="1" dirty="0"/>
              <a:t>HC‑SR04  </a:t>
            </a:r>
          </a:p>
          <a:p>
            <a:pPr marL="25400" indent="0" algn="l"/>
            <a:r>
              <a:rPr lang="en-GB" sz="2000" b="1" dirty="0"/>
              <a:t>     Ultrasonic Sensor</a:t>
            </a:r>
            <a:r>
              <a:rPr lang="en-GB" sz="2000" dirty="0"/>
              <a:t> to detect the level of waste inside the bin.</a:t>
            </a:r>
          </a:p>
          <a:p>
            <a:pPr marL="25400" indent="0" algn="l"/>
            <a:r>
              <a:rPr lang="en-GB" sz="2000" dirty="0"/>
              <a:t>      </a:t>
            </a:r>
          </a:p>
          <a:p>
            <a:pPr marL="368300" indent="-342900" algn="l">
              <a:buFont typeface="Arial" panose="020B0604020202020204" pitchFamily="34" charset="0"/>
              <a:buChar char="•"/>
            </a:pPr>
            <a:r>
              <a:rPr lang="en-GB" sz="2000" dirty="0"/>
              <a:t>This system eliminates the problem of </a:t>
            </a:r>
            <a:r>
              <a:rPr lang="en-GB" sz="2000" b="1" dirty="0"/>
              <a:t>garbage overflow</a:t>
            </a:r>
          </a:p>
          <a:p>
            <a:pPr marL="25400" indent="0" algn="l"/>
            <a:r>
              <a:rPr lang="en-GB" sz="2000" b="1" dirty="0"/>
              <a:t>     caused by fixed waste collection schedules</a:t>
            </a:r>
            <a:r>
              <a:rPr lang="en-GB" sz="2000" dirty="0"/>
              <a:t> by notifying</a:t>
            </a:r>
          </a:p>
          <a:p>
            <a:pPr marL="25400" indent="0" algn="l"/>
            <a:r>
              <a:rPr lang="en-GB" sz="2000" dirty="0"/>
              <a:t>     authorities only when the bin is nearly full.</a:t>
            </a: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endParaRPr sz="2000" dirty="0"/>
          </a:p>
        </p:txBody>
      </p:sp>
      <p:sp>
        <p:nvSpPr>
          <p:cNvPr id="166" name="Google Shape;166;p25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r>
              <a:rPr lang="en-IN" alt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7" name="Google Shape;167;p25" descr="1583389585phpP9W1tB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096000"/>
            <a:ext cx="1339849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1B2607-6BDD-111E-0FAF-D5D83F7F78F5}"/>
              </a:ext>
            </a:extLst>
          </p:cNvPr>
          <p:cNvSpPr/>
          <p:nvPr/>
        </p:nvSpPr>
        <p:spPr>
          <a:xfrm>
            <a:off x="255640" y="344129"/>
            <a:ext cx="8632720" cy="5417573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4609-76C0-B1F3-D2C4-1AB1E8ECB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858" y="206478"/>
            <a:ext cx="5693491" cy="872188"/>
          </a:xfrm>
        </p:spPr>
        <p:txBody>
          <a:bodyPr>
            <a:normAutofit/>
          </a:bodyPr>
          <a:lstStyle/>
          <a:p>
            <a:r>
              <a:rPr lang="en-GB" sz="4000" b="1" u="sng" dirty="0">
                <a:latin typeface="Arial Black" panose="020B0A04020102020204" pitchFamily="34" charset="0"/>
              </a:rPr>
              <a:t>PROTO</a:t>
            </a:r>
            <a:r>
              <a:rPr lang="en-GB" sz="3600" b="1" u="sng" dirty="0">
                <a:latin typeface="Arial Black" panose="020B0A04020102020204" pitchFamily="34" charset="0"/>
              </a:rPr>
              <a:t>TYPE:</a:t>
            </a:r>
            <a:endParaRPr lang="en-IN" sz="3600" b="1" u="sng" dirty="0">
              <a:latin typeface="Arial Black" panose="020B0A04020102020204" pitchFamily="34" charset="0"/>
            </a:endParaRP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6699DA49-BF45-5E27-D0A9-879BB18F69B5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dirty="0"/>
              <a:t>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A9BD27-ED8F-B3F8-7D2E-D2485DDE9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43" b="9047"/>
          <a:stretch>
            <a:fillRect/>
          </a:stretch>
        </p:blipFill>
        <p:spPr>
          <a:xfrm>
            <a:off x="511276" y="1553980"/>
            <a:ext cx="3740933" cy="363438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6EAD07-8921-387B-FB4F-64D2B54515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914" b="11434"/>
          <a:stretch>
            <a:fillRect/>
          </a:stretch>
        </p:blipFill>
        <p:spPr>
          <a:xfrm>
            <a:off x="5226570" y="1495386"/>
            <a:ext cx="3406154" cy="356242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1" name="AutoShape 16">
            <a:extLst>
              <a:ext uri="{FF2B5EF4-FFF2-40B4-BE49-F238E27FC236}">
                <a16:creationId xmlns:a16="http://schemas.microsoft.com/office/drawing/2014/main" id="{305417D6-65CD-B66B-A402-E2874DEADB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63BC73-DCC0-BB2D-F8AA-CF953B28A8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10" r="18813" b="25304"/>
          <a:stretch>
            <a:fillRect/>
          </a:stretch>
        </p:blipFill>
        <p:spPr>
          <a:xfrm>
            <a:off x="3194154" y="3964610"/>
            <a:ext cx="2755692" cy="244750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0CF5E8-91FE-D6E9-D8A3-E761DC85ABE8}"/>
              </a:ext>
            </a:extLst>
          </p:cNvPr>
          <p:cNvSpPr/>
          <p:nvPr/>
        </p:nvSpPr>
        <p:spPr>
          <a:xfrm>
            <a:off x="216310" y="206478"/>
            <a:ext cx="8691716" cy="64450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36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99">
            <a:alpha val="26000"/>
          </a:srgbClr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ctrTitle"/>
          </p:nvPr>
        </p:nvSpPr>
        <p:spPr>
          <a:xfrm>
            <a:off x="496726" y="18568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4000" b="1" i="1" u="sng" dirty="0">
                <a:latin typeface="Arial Black" panose="020B0A04020102020204" pitchFamily="34" charset="0"/>
              </a:rPr>
              <a:t>COMPONENTS USED: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982F527E-A125-429B-A93F-24C2F28FC113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65921627"/>
              </p:ext>
            </p:extLst>
          </p:nvPr>
        </p:nvGraphicFramePr>
        <p:xfrm>
          <a:off x="874874" y="1428750"/>
          <a:ext cx="3588971" cy="4114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6" name="Google Shape;166;p25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7" name="Google Shape;167;p25" descr="1583389585phpP9W1tB.jp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6096000"/>
            <a:ext cx="133984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ITRIP ESP-WROOM-32 ESP32 ESP-32S ...">
            <a:extLst>
              <a:ext uri="{FF2B5EF4-FFF2-40B4-BE49-F238E27FC236}">
                <a16:creationId xmlns:a16="http://schemas.microsoft.com/office/drawing/2014/main" id="{801098AF-12D1-3D4F-74F3-4923917D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15213"/>
            <a:ext cx="1759503" cy="188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C-SR04-Ultrasonic Range Finder ...">
            <a:extLst>
              <a:ext uri="{FF2B5EF4-FFF2-40B4-BE49-F238E27FC236}">
                <a16:creationId xmlns:a16="http://schemas.microsoft.com/office/drawing/2014/main" id="{D28E7DBC-DE8C-877D-B23A-94AC80CE6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508" y="1315212"/>
            <a:ext cx="2102969" cy="188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Jumper Wires – An Introduction ...">
            <a:extLst>
              <a:ext uri="{FF2B5EF4-FFF2-40B4-BE49-F238E27FC236}">
                <a16:creationId xmlns:a16="http://schemas.microsoft.com/office/drawing/2014/main" id="{5D84FFF2-4FFD-4204-DBB9-728BA9C45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976" y="3555158"/>
            <a:ext cx="1982501" cy="198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Belkin 20000 mAh Power Bank | Super ...">
            <a:extLst>
              <a:ext uri="{FF2B5EF4-FFF2-40B4-BE49-F238E27FC236}">
                <a16:creationId xmlns:a16="http://schemas.microsoft.com/office/drawing/2014/main" id="{5A88D779-A382-50E7-D1F7-58B1BA098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07644"/>
            <a:ext cx="1800225" cy="203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43F458-8213-8702-AA8C-E89B1BEDC636}"/>
              </a:ext>
            </a:extLst>
          </p:cNvPr>
          <p:cNvSpPr/>
          <p:nvPr/>
        </p:nvSpPr>
        <p:spPr>
          <a:xfrm>
            <a:off x="496726" y="422787"/>
            <a:ext cx="8150548" cy="52799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3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CA76-D293-751C-7BD6-A7FB1E6B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20" y="451946"/>
            <a:ext cx="4887525" cy="747267"/>
          </a:xfrm>
        </p:spPr>
        <p:txBody>
          <a:bodyPr>
            <a:noAutofit/>
          </a:bodyPr>
          <a:lstStyle/>
          <a:p>
            <a:pPr algn="l"/>
            <a:r>
              <a:rPr lang="en-GB" sz="3200" u="sng" dirty="0">
                <a:latin typeface="Arial Black" panose="020B0A04020102020204" pitchFamily="34" charset="0"/>
              </a:rPr>
              <a:t>SOFTWARE USED: </a:t>
            </a:r>
            <a:r>
              <a:rPr lang="en-GB" sz="3200" dirty="0">
                <a:solidFill>
                  <a:srgbClr val="0070C0"/>
                </a:solidFill>
                <a:latin typeface="Arial Black" panose="020B0A04020102020204" pitchFamily="34" charset="0"/>
              </a:rPr>
              <a:t>ARDUINO IDE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9DFC9C-CB9D-4B0A-D56E-C8681B84C754}"/>
              </a:ext>
            </a:extLst>
          </p:cNvPr>
          <p:cNvSpPr txBox="1">
            <a:spLocks/>
          </p:cNvSpPr>
          <p:nvPr/>
        </p:nvSpPr>
        <p:spPr>
          <a:xfrm>
            <a:off x="256607" y="1199213"/>
            <a:ext cx="8690748" cy="475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14300" indent="0">
              <a:buNone/>
            </a:pPr>
            <a:r>
              <a:rPr lang="en-IN" sz="2000" b="1" dirty="0">
                <a:latin typeface="+mj-lt"/>
              </a:rPr>
              <a:t>Programming ESP32 for sensor control</a:t>
            </a:r>
          </a:p>
          <a:p>
            <a:pPr marL="114300" indent="0">
              <a:buNone/>
            </a:pPr>
            <a:r>
              <a:rPr lang="en-IN" sz="2000" dirty="0">
                <a:latin typeface="+mj-lt"/>
              </a:rPr>
              <a:t>Used to write and upload code to ESP32 to read data from the ultrasonic sensor (distance measurement of garbage level).</a:t>
            </a:r>
          </a:p>
          <a:p>
            <a:pPr marL="114300" indent="0">
              <a:buNone/>
            </a:pPr>
            <a:r>
              <a:rPr lang="en-IN" sz="2000" b="1" dirty="0">
                <a:latin typeface="+mj-lt"/>
              </a:rPr>
              <a:t>Wi-Fi configuration for smart monitoring</a:t>
            </a:r>
          </a:p>
          <a:p>
            <a:pPr marL="114300" indent="0">
              <a:buNone/>
            </a:pPr>
            <a:r>
              <a:rPr lang="en-IN" sz="2000" dirty="0">
                <a:latin typeface="+mj-lt"/>
              </a:rPr>
              <a:t>Arduino IDE is used to configure ESP32 Wi-Fi, enabling real-time data transmission to a web dashboard.</a:t>
            </a:r>
          </a:p>
          <a:p>
            <a:pPr marL="114300" indent="0">
              <a:buNone/>
            </a:pPr>
            <a:r>
              <a:rPr lang="en-IN" sz="2000" b="1" dirty="0">
                <a:latin typeface="+mj-lt"/>
              </a:rPr>
              <a:t>Web server integration</a:t>
            </a:r>
          </a:p>
          <a:p>
            <a:pPr marL="114300" indent="0">
              <a:buNone/>
            </a:pPr>
            <a:r>
              <a:rPr lang="en-IN" sz="2000" dirty="0">
                <a:latin typeface="+mj-lt"/>
              </a:rPr>
              <a:t>Code is written in Arduino IDE to host a local web server on ESP32, displaying bin status (Full / Empty).</a:t>
            </a:r>
          </a:p>
          <a:p>
            <a:pPr marL="114300" indent="0">
              <a:buNone/>
            </a:pPr>
            <a:r>
              <a:rPr lang="en-IN" sz="2000" b="1" dirty="0">
                <a:latin typeface="+mj-lt"/>
              </a:rPr>
              <a:t>Real-time debugging using Serial Monitor</a:t>
            </a:r>
          </a:p>
          <a:p>
            <a:pPr marL="114300" indent="0">
              <a:buNone/>
            </a:pPr>
            <a:r>
              <a:rPr lang="en-IN" sz="2000" dirty="0">
                <a:latin typeface="+mj-lt"/>
              </a:rPr>
              <a:t>Helps monitor distance values and troubleshoot issues like sensor errors or Wi-Fi connection problems.</a:t>
            </a:r>
          </a:p>
          <a:p>
            <a:pPr marL="114300" indent="0">
              <a:buNone/>
            </a:pPr>
            <a:r>
              <a:rPr lang="en-IN" sz="2000" b="1" dirty="0">
                <a:latin typeface="+mj-lt"/>
              </a:rPr>
              <a:t>Integration of hardware components</a:t>
            </a:r>
          </a:p>
          <a:p>
            <a:pPr marL="114300" indent="0">
              <a:buNone/>
            </a:pPr>
            <a:r>
              <a:rPr lang="en-IN" sz="2000" dirty="0">
                <a:latin typeface="+mj-lt"/>
              </a:rPr>
              <a:t>Arduino IDE manages interaction between ultrasonic sensor, buzzer, and ESP32 to trigger alerts when the bin is full.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4B56F2-2233-8BFB-7351-EDCB7F10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pic>
        <p:nvPicPr>
          <p:cNvPr id="2050" name="Picture 2" descr="Arduino IDE 2 - Download and install on ...">
            <a:extLst>
              <a:ext uri="{FF2B5EF4-FFF2-40B4-BE49-F238E27FC236}">
                <a16:creationId xmlns:a16="http://schemas.microsoft.com/office/drawing/2014/main" id="{8A08021C-D61C-BC40-4419-22FACEA16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007" y="451946"/>
            <a:ext cx="1143001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66A2751-19C6-7588-FE94-F777A8BD5686}"/>
              </a:ext>
            </a:extLst>
          </p:cNvPr>
          <p:cNvSpPr/>
          <p:nvPr/>
        </p:nvSpPr>
        <p:spPr>
          <a:xfrm>
            <a:off x="383458" y="363456"/>
            <a:ext cx="8406581" cy="541791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491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4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4AD685-F359-6885-0F05-039F620EDBDA}"/>
              </a:ext>
            </a:extLst>
          </p:cNvPr>
          <p:cNvSpPr txBox="1">
            <a:spLocks/>
          </p:cNvSpPr>
          <p:nvPr/>
        </p:nvSpPr>
        <p:spPr>
          <a:xfrm>
            <a:off x="469164" y="1897039"/>
            <a:ext cx="7996410" cy="367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GB" dirty="0">
                <a:latin typeface="Algerian" panose="04020705040A02060702" pitchFamily="82" charset="0"/>
              </a:rPr>
              <a:t>Ultrasonic sensor measures distance from sensor to garbage.</a:t>
            </a:r>
          </a:p>
          <a:p>
            <a:r>
              <a:rPr lang="en-GB" dirty="0">
                <a:latin typeface="Algerian" panose="04020705040A02060702" pitchFamily="82" charset="0"/>
              </a:rPr>
              <a:t>ESP32 processes the distance data.</a:t>
            </a:r>
          </a:p>
          <a:p>
            <a:r>
              <a:rPr lang="en-GB" dirty="0">
                <a:latin typeface="Algerian" panose="04020705040A02060702" pitchFamily="82" charset="0"/>
              </a:rPr>
              <a:t>When the bin becomes full, the buzzer alerts locally.</a:t>
            </a:r>
          </a:p>
          <a:p>
            <a:r>
              <a:rPr lang="en-GB" dirty="0">
                <a:latin typeface="Algerian" panose="04020705040A02060702" pitchFamily="82" charset="0"/>
              </a:rPr>
              <a:t>ESP32 sends data through </a:t>
            </a:r>
            <a:r>
              <a:rPr lang="en-GB" dirty="0" err="1">
                <a:latin typeface="Algerian" panose="04020705040A02060702" pitchFamily="82" charset="0"/>
              </a:rPr>
              <a:t>WiFi</a:t>
            </a:r>
            <a:r>
              <a:rPr lang="en-GB" dirty="0">
                <a:latin typeface="Algerian" panose="04020705040A02060702" pitchFamily="82" charset="0"/>
              </a:rPr>
              <a:t> to a cloud platform.</a:t>
            </a:r>
          </a:p>
          <a:p>
            <a:r>
              <a:rPr lang="en-GB" dirty="0">
                <a:latin typeface="Algerian" panose="04020705040A02060702" pitchFamily="82" charset="0"/>
              </a:rPr>
              <a:t>Authorities can monitor bin status remotely.</a:t>
            </a:r>
          </a:p>
          <a:p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E2042C8-DDA5-67A2-F57A-F0701FC9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96" y="588111"/>
            <a:ext cx="8070578" cy="1055700"/>
          </a:xfrm>
        </p:spPr>
        <p:txBody>
          <a:bodyPr anchor="ctr">
            <a:normAutofit/>
          </a:bodyPr>
          <a:lstStyle/>
          <a:p>
            <a:r>
              <a:rPr lang="en-GB" sz="3200" u="sng" dirty="0">
                <a:latin typeface="Arial Black" panose="020B0A04020102020204" pitchFamily="34" charset="0"/>
              </a:rPr>
              <a:t>WORKING PRINCIPLE(TESTING):</a:t>
            </a:r>
            <a:endParaRPr lang="en-IN" sz="3200" u="sng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676DD6-1385-7AAC-92A9-43DAE41C2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5480"/>
            <a:ext cx="9143999" cy="6762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98510E-C8A3-FEC2-70FD-509022E6717C}"/>
              </a:ext>
            </a:extLst>
          </p:cNvPr>
          <p:cNvSpPr/>
          <p:nvPr/>
        </p:nvSpPr>
        <p:spPr>
          <a:xfrm>
            <a:off x="373626" y="481781"/>
            <a:ext cx="8160774" cy="5260258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99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47668E-9CCA-1408-688B-0084874CE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248A56-1900-0E07-5F3A-DCF8A5B40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25" y="152009"/>
            <a:ext cx="8776742" cy="593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05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32F4-F54D-395F-40B3-B26BAFA5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371" y="365126"/>
            <a:ext cx="6359978" cy="132556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Arial Black" panose="020B0A04020102020204" pitchFamily="34" charset="0"/>
              </a:rPr>
              <a:t>CIRCUIT DIAGRAM:</a:t>
            </a:r>
            <a:endParaRPr lang="en-IN" sz="4000" b="1" u="sng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2A4329-B26E-DFD9-1073-639400B2D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50FCF8-F244-03CF-6217-7DAEAC62B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" r="6068" b="6263"/>
          <a:stretch>
            <a:fillRect/>
          </a:stretch>
        </p:blipFill>
        <p:spPr>
          <a:xfrm>
            <a:off x="0" y="1641987"/>
            <a:ext cx="9144000" cy="4444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3020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48FE25-1D83-0FEA-99DA-02779595E97D}"/>
              </a:ext>
            </a:extLst>
          </p:cNvPr>
          <p:cNvSpPr txBox="1"/>
          <p:nvPr/>
        </p:nvSpPr>
        <p:spPr>
          <a:xfrm>
            <a:off x="2831690" y="1019790"/>
            <a:ext cx="4945626" cy="5161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600" b="1" kern="1200" dirty="0" err="1">
                <a:solidFill>
                  <a:srgbClr val="00B0F0"/>
                </a:solidFill>
                <a:latin typeface="+mn-lt"/>
                <a:ea typeface="+mn-ea"/>
                <a:cs typeface="+mn-cs"/>
              </a:rPr>
              <a:t>WiFi.h</a:t>
            </a: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600" b="1" kern="1200" dirty="0" err="1">
                <a:solidFill>
                  <a:srgbClr val="00B0F0"/>
                </a:solidFill>
                <a:latin typeface="+mn-lt"/>
                <a:ea typeface="+mn-ea"/>
                <a:cs typeface="+mn-cs"/>
              </a:rPr>
              <a:t>WebServer.h</a:t>
            </a: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</a:br>
            <a:endParaRPr lang="en-US" sz="1600" b="1" kern="1200" dirty="0">
              <a:solidFill>
                <a:srgbClr val="00B0F0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#define TRIG_PIN 18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#define ECHO_PIN 19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</a:br>
            <a:endParaRPr lang="en-US" sz="1600" b="1" kern="1200" dirty="0">
              <a:solidFill>
                <a:srgbClr val="00B0F0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const char* </a:t>
            </a:r>
            <a:r>
              <a:rPr lang="en-US" sz="1600" b="1" kern="1200" dirty="0" err="1">
                <a:solidFill>
                  <a:srgbClr val="00B0F0"/>
                </a:solidFill>
                <a:latin typeface="+mn-lt"/>
                <a:ea typeface="+mn-ea"/>
                <a:cs typeface="+mn-cs"/>
              </a:rPr>
              <a:t>ssid</a:t>
            </a: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 = "SIDDHU";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const char* password = "12345678";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</a:br>
            <a:endParaRPr lang="en-US" sz="1600" b="1" kern="1200" dirty="0">
              <a:solidFill>
                <a:srgbClr val="00B0F0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 err="1">
                <a:solidFill>
                  <a:srgbClr val="00B0F0"/>
                </a:solidFill>
                <a:latin typeface="+mn-lt"/>
                <a:ea typeface="+mn-ea"/>
                <a:cs typeface="+mn-cs"/>
              </a:rPr>
              <a:t>WebServer</a:t>
            </a: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 server(80);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</a:br>
            <a:endParaRPr lang="en-US" sz="1600" b="1" kern="1200" dirty="0">
              <a:solidFill>
                <a:srgbClr val="00B0F0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long duration;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float distance;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</a:br>
            <a:endParaRPr lang="en-US" sz="1600" b="1" kern="1200" dirty="0">
              <a:solidFill>
                <a:srgbClr val="00B0F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03A19-F9FD-0445-BF5C-842EAD2E1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pic>
        <p:nvPicPr>
          <p:cNvPr id="3074" name="Picture 2" descr="Download and install Arduino IDE ...">
            <a:extLst>
              <a:ext uri="{FF2B5EF4-FFF2-40B4-BE49-F238E27FC236}">
                <a16:creationId xmlns:a16="http://schemas.microsoft.com/office/drawing/2014/main" id="{DD378F72-A0A7-EDAF-7D75-3B5AAB19F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71" y="2064803"/>
            <a:ext cx="1764923" cy="14635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986A6A-B4CF-37D8-F985-D99B43B3C3EC}"/>
              </a:ext>
            </a:extLst>
          </p:cNvPr>
          <p:cNvSpPr/>
          <p:nvPr/>
        </p:nvSpPr>
        <p:spPr>
          <a:xfrm>
            <a:off x="452284" y="233208"/>
            <a:ext cx="8239432" cy="560500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024C6-1B41-96C8-7AD7-0ABE23E2000F}"/>
              </a:ext>
            </a:extLst>
          </p:cNvPr>
          <p:cNvSpPr txBox="1"/>
          <p:nvPr/>
        </p:nvSpPr>
        <p:spPr>
          <a:xfrm>
            <a:off x="3144417" y="364889"/>
            <a:ext cx="33590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solidFill>
                  <a:schemeClr val="bg1"/>
                </a:solidFill>
                <a:latin typeface="Arial Black" panose="020B0A04020102020204" pitchFamily="34" charset="0"/>
              </a:rPr>
              <a:t>PROGRAM:</a:t>
            </a:r>
            <a:endParaRPr lang="en-IN" sz="4000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563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8A24F-9A23-5AA6-5AD2-114B8CCE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73FAF4-8682-A77A-2407-E656DA2BADDA}"/>
              </a:ext>
            </a:extLst>
          </p:cNvPr>
          <p:cNvSpPr txBox="1"/>
          <p:nvPr/>
        </p:nvSpPr>
        <p:spPr>
          <a:xfrm>
            <a:off x="3335481" y="432620"/>
            <a:ext cx="5179868" cy="5744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// Function to measure distance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float </a:t>
            </a:r>
            <a:r>
              <a:rPr lang="en-US" sz="1600" b="1" kern="1200" dirty="0" err="1">
                <a:solidFill>
                  <a:srgbClr val="92D050"/>
                </a:solidFill>
                <a:latin typeface="+mn-lt"/>
                <a:ea typeface="+mn-ea"/>
                <a:cs typeface="+mn-cs"/>
              </a:rPr>
              <a:t>getDistance</a:t>
            </a: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600" b="1" kern="1200" dirty="0" err="1">
                <a:solidFill>
                  <a:srgbClr val="92D050"/>
                </a:solidFill>
                <a:latin typeface="+mn-lt"/>
                <a:ea typeface="+mn-ea"/>
                <a:cs typeface="+mn-cs"/>
              </a:rPr>
              <a:t>digitalWrite</a:t>
            </a: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(TRIG_PIN, LOW);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600" b="1" kern="1200" dirty="0" err="1">
                <a:solidFill>
                  <a:srgbClr val="92D050"/>
                </a:solidFill>
                <a:latin typeface="+mn-lt"/>
                <a:ea typeface="+mn-ea"/>
                <a:cs typeface="+mn-cs"/>
              </a:rPr>
              <a:t>delayMicroseconds</a:t>
            </a: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(2);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</a:br>
            <a:endParaRPr lang="en-US" sz="1600" b="1" kern="1200" dirty="0">
              <a:solidFill>
                <a:srgbClr val="92D050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600" b="1" kern="1200" dirty="0" err="1">
                <a:solidFill>
                  <a:srgbClr val="92D050"/>
                </a:solidFill>
                <a:latin typeface="+mn-lt"/>
                <a:ea typeface="+mn-ea"/>
                <a:cs typeface="+mn-cs"/>
              </a:rPr>
              <a:t>digitalWrite</a:t>
            </a: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(TRIG_PIN, HIGH);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600" b="1" kern="1200" dirty="0" err="1">
                <a:solidFill>
                  <a:srgbClr val="92D050"/>
                </a:solidFill>
                <a:latin typeface="+mn-lt"/>
                <a:ea typeface="+mn-ea"/>
                <a:cs typeface="+mn-cs"/>
              </a:rPr>
              <a:t>delayMicroseconds</a:t>
            </a: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(10);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600" b="1" kern="1200" dirty="0" err="1">
                <a:solidFill>
                  <a:srgbClr val="92D050"/>
                </a:solidFill>
                <a:latin typeface="+mn-lt"/>
                <a:ea typeface="+mn-ea"/>
                <a:cs typeface="+mn-cs"/>
              </a:rPr>
              <a:t>digitalWrite</a:t>
            </a: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(TRIG_PIN, LOW);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</a:br>
            <a:endParaRPr lang="en-US" sz="1600" b="1" kern="1200" dirty="0">
              <a:solidFill>
                <a:srgbClr val="92D050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  duration = </a:t>
            </a:r>
            <a:r>
              <a:rPr lang="en-US" sz="1600" b="1" kern="1200" dirty="0" err="1">
                <a:solidFill>
                  <a:srgbClr val="92D050"/>
                </a:solidFill>
                <a:latin typeface="+mn-lt"/>
                <a:ea typeface="+mn-ea"/>
                <a:cs typeface="+mn-cs"/>
              </a:rPr>
              <a:t>pulseIn</a:t>
            </a: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(ECHO_PIN, HIGH, 30000); // timeout added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</a:br>
            <a:endParaRPr lang="en-US" sz="1600" b="1" kern="1200" dirty="0">
              <a:solidFill>
                <a:srgbClr val="92D050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  if (duration == 0) return -1; // error case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</a:br>
            <a:endParaRPr lang="en-US" sz="1600" b="1" kern="1200" dirty="0">
              <a:solidFill>
                <a:srgbClr val="92D050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  return duration * 0.034 / 2;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kern="1200" dirty="0">
                <a:solidFill>
                  <a:srgbClr val="92D050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1" kern="12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</a:br>
            <a:endParaRPr lang="en-US" sz="1600" b="1" kern="1200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F8691-DF99-3A09-9F35-E6D0D76CD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pic>
        <p:nvPicPr>
          <p:cNvPr id="3" name="Picture 2" descr="Download and install Arduino IDE ...">
            <a:extLst>
              <a:ext uri="{FF2B5EF4-FFF2-40B4-BE49-F238E27FC236}">
                <a16:creationId xmlns:a16="http://schemas.microsoft.com/office/drawing/2014/main" id="{E294F298-DC27-271D-989E-8F7EB2C2E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79" y="2170381"/>
            <a:ext cx="1764923" cy="14635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25C569-C937-E29E-3534-03B4451B7C52}"/>
              </a:ext>
            </a:extLst>
          </p:cNvPr>
          <p:cNvSpPr/>
          <p:nvPr/>
        </p:nvSpPr>
        <p:spPr>
          <a:xfrm>
            <a:off x="442452" y="363794"/>
            <a:ext cx="8288593" cy="542740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1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D791E-DFE0-329C-1F8A-4964CD03F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83B897-5961-41CE-8193-36E53CCDFE84}"/>
              </a:ext>
            </a:extLst>
          </p:cNvPr>
          <p:cNvSpPr txBox="1"/>
          <p:nvPr/>
        </p:nvSpPr>
        <p:spPr>
          <a:xfrm>
            <a:off x="3335481" y="319088"/>
            <a:ext cx="5179868" cy="585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// Webpage handler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handleRoot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distance =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getDistance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endParaRPr lang="en-US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String status;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String color;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String icon;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bool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isFull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= false;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endParaRPr lang="en-US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if (distance &lt; 7)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status = "Bin is FULL";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color = "#ff4d4d";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icon = "⚠️";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isFull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= true;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}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else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status = "Bin is OK";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color = "#4CAF50";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icon = "✔️";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}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kern="1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</a:br>
            <a:endParaRPr lang="en-US" kern="1200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1CCDD-670D-5DFF-1690-3A65C3B93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pic>
        <p:nvPicPr>
          <p:cNvPr id="2" name="Picture 2" descr="Download and install Arduino IDE ...">
            <a:extLst>
              <a:ext uri="{FF2B5EF4-FFF2-40B4-BE49-F238E27FC236}">
                <a16:creationId xmlns:a16="http://schemas.microsoft.com/office/drawing/2014/main" id="{FCC9E310-876E-5E21-BD79-A9DF6F418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49" y="1747594"/>
            <a:ext cx="1764923" cy="14635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7A4AA5-5965-4A02-1555-D9ADB8328978}"/>
              </a:ext>
            </a:extLst>
          </p:cNvPr>
          <p:cNvSpPr/>
          <p:nvPr/>
        </p:nvSpPr>
        <p:spPr>
          <a:xfrm>
            <a:off x="452284" y="319088"/>
            <a:ext cx="8219768" cy="54819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892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CF9DB5-E9F4-9E3F-4F41-6E1BBA5A765A}"/>
              </a:ext>
            </a:extLst>
          </p:cNvPr>
          <p:cNvSpPr txBox="1"/>
          <p:nvPr/>
        </p:nvSpPr>
        <p:spPr>
          <a:xfrm>
            <a:off x="3335481" y="1"/>
            <a:ext cx="5179868" cy="609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100" kern="12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</a:rPr>
              <a:t>  String html = </a:t>
            </a:r>
            <a:r>
              <a:rPr lang="en-US" sz="1100" kern="1200" dirty="0" err="1">
                <a:solidFill>
                  <a:schemeClr val="bg1"/>
                </a:solidFill>
              </a:rPr>
              <a:t>R"rawliteral</a:t>
            </a:r>
            <a:r>
              <a:rPr lang="en-US" sz="1100" kern="1200" dirty="0">
                <a:solidFill>
                  <a:schemeClr val="bg1"/>
                </a:solidFill>
              </a:rPr>
              <a:t>(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</a:rPr>
              <a:t>&lt;!DOCTYPE html&gt;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</a:rPr>
              <a:t>&lt;html&gt;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</a:rPr>
              <a:t>&lt;head&gt;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</a:rPr>
              <a:t>&lt;meta charset="UTF-8"&gt;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</a:rPr>
              <a:t>&lt;meta http-</a:t>
            </a:r>
            <a:r>
              <a:rPr lang="en-US" sz="1100" kern="1200" dirty="0" err="1">
                <a:solidFill>
                  <a:schemeClr val="bg1"/>
                </a:solidFill>
              </a:rPr>
              <a:t>equiv</a:t>
            </a:r>
            <a:r>
              <a:rPr lang="en-US" sz="1100" kern="1200" dirty="0">
                <a:solidFill>
                  <a:schemeClr val="bg1"/>
                </a:solidFill>
              </a:rPr>
              <a:t>="refresh" content="2"&gt;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</a:rPr>
              <a:t>&lt;title&gt;Smart Garbage Bin&lt;/title&gt;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</a:rPr>
              <a:t>  margin: auto;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</a:rPr>
              <a:t>}</a:t>
            </a:r>
            <a:endParaRPr lang="en-US" sz="11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&lt;style&gt;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body 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margin: 0;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font-family: 'Segoe UI', sans-serif;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background: radial-gradient(circle at top, #0f172a, #020617);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color: white;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text-align: center;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.container 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width: 90%;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max-width: 500px;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margin: auto;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.card 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background: #111827;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padding: 20px;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margin: 20px 0;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border-radius: 15px;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box-shadow: 0 0 15px </a:t>
            </a:r>
            <a:r>
              <a:rPr lang="en-US" sz="11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rgba</a:t>
            </a: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(0,0,0,0.5);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1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856B6-C32C-7FEB-0D05-98FBE0B42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pic>
        <p:nvPicPr>
          <p:cNvPr id="2" name="Picture 2" descr="Download and install Arduino IDE ...">
            <a:extLst>
              <a:ext uri="{FF2B5EF4-FFF2-40B4-BE49-F238E27FC236}">
                <a16:creationId xmlns:a16="http://schemas.microsoft.com/office/drawing/2014/main" id="{9F0C2C36-DE46-81A0-BC56-A1AC968DC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81" y="1020007"/>
            <a:ext cx="1764923" cy="14635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71F443-78A5-3733-9FE0-2AA7ADCC7EF3}"/>
              </a:ext>
            </a:extLst>
          </p:cNvPr>
          <p:cNvSpPr/>
          <p:nvPr/>
        </p:nvSpPr>
        <p:spPr>
          <a:xfrm>
            <a:off x="288730" y="235974"/>
            <a:ext cx="8566540" cy="577153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158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B8BE1-F88A-1E17-8A0E-AF2C0E0AC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458570-80B9-F4AB-B466-FAAF79F49825}"/>
              </a:ext>
            </a:extLst>
          </p:cNvPr>
          <p:cNvSpPr txBox="1"/>
          <p:nvPr/>
        </p:nvSpPr>
        <p:spPr>
          <a:xfrm>
            <a:off x="3335481" y="0"/>
            <a:ext cx="5179868" cy="57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kern="12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kern="1200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.status 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font-size: 22px;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font-weight: bold;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}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&lt;/style&gt;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&lt;/head&gt;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&lt;body&gt;</a:t>
            </a:r>
            <a:endParaRPr lang="en-US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&lt;h1&gt;Smart Garbage Bin Dashboard&lt;/h1&gt;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&lt;div class="container"&gt;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&lt;!-- Adyar (REAL DATA) --&gt;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&lt;div class="card"&gt;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&lt;h2&gt;Adyar Garbage Bin&lt;/h2&gt;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&lt;p class="status" style="color: )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rawliteral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" + color +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R"rawliteral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(;"&gt;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  )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rawliteral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" + icon + " " + status +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R"rawliteral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&lt;/p&gt;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&lt;p&gt;Distance: )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rawliteral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" + String(distance) +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R"rawliteral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 cm&lt;/p&gt;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&lt;/div&gt;</a:t>
            </a:r>
            <a:b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endParaRPr lang="en-US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&lt;!-- T Nagar (STATIC) --&gt;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&lt;div class="card"&gt;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&lt;h2&gt;T. Nagar Garbage Bin&lt;/h2&gt;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&lt;p class="status" style="color:#4CAF50;"&gt;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  ✔️ Bin is OK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&lt;/p&gt;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&lt;/div&gt;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2B404-D7A8-56A6-452A-D36201113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181725"/>
            <a:ext cx="9143999" cy="676275"/>
          </a:xfrm>
          <a:prstGeom prst="rect">
            <a:avLst/>
          </a:prstGeom>
        </p:spPr>
      </p:pic>
      <p:pic>
        <p:nvPicPr>
          <p:cNvPr id="2" name="Picture 2" descr="Download and install Arduino IDE ...">
            <a:extLst>
              <a:ext uri="{FF2B5EF4-FFF2-40B4-BE49-F238E27FC236}">
                <a16:creationId xmlns:a16="http://schemas.microsoft.com/office/drawing/2014/main" id="{CBC9F4D3-E378-4B22-6A0D-EEE656E52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318" y="1324807"/>
            <a:ext cx="1764923" cy="14635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8E83BB-AD9F-8B8F-B25A-73E41960E945}"/>
              </a:ext>
            </a:extLst>
          </p:cNvPr>
          <p:cNvSpPr/>
          <p:nvPr/>
        </p:nvSpPr>
        <p:spPr>
          <a:xfrm>
            <a:off x="481781" y="462116"/>
            <a:ext cx="8150942" cy="526025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66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2644B-A80C-9623-C643-FF881752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796131-D79C-23E7-28E1-68F24E242B11}"/>
              </a:ext>
            </a:extLst>
          </p:cNvPr>
          <p:cNvSpPr txBox="1"/>
          <p:nvPr/>
        </p:nvSpPr>
        <p:spPr>
          <a:xfrm>
            <a:off x="3335481" y="194872"/>
            <a:ext cx="5179868" cy="5982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&lt;!-- </a:t>
            </a:r>
            <a:r>
              <a:rPr lang="en-US" kern="1200" dirty="0" err="1">
                <a:solidFill>
                  <a:schemeClr val="bg1"/>
                </a:solidFill>
              </a:rPr>
              <a:t>Triplicane</a:t>
            </a:r>
            <a:r>
              <a:rPr lang="en-US" kern="1200" dirty="0">
                <a:solidFill>
                  <a:schemeClr val="bg1"/>
                </a:solidFill>
              </a:rPr>
              <a:t> (STATIC) --&gt;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&lt;div class="card"&gt;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  &lt;h2&gt;</a:t>
            </a:r>
            <a:r>
              <a:rPr lang="en-US" kern="1200" dirty="0" err="1">
                <a:solidFill>
                  <a:schemeClr val="bg1"/>
                </a:solidFill>
              </a:rPr>
              <a:t>Triplicane</a:t>
            </a:r>
            <a:r>
              <a:rPr lang="en-US" kern="1200" dirty="0">
                <a:solidFill>
                  <a:schemeClr val="bg1"/>
                </a:solidFill>
              </a:rPr>
              <a:t> Garbage Bin&lt;/h2&gt;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  &lt;p class="status" style="color:#4CAF50;"&gt;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    ✔️ Bin is OK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  &lt;/p&gt;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&lt;/div&gt;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&lt;/div&gt;</a:t>
            </a:r>
            <a:endParaRPr lang="en-US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&lt;script&gt;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rawliteral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";</a:t>
            </a:r>
            <a:b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endParaRPr lang="en-US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if (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isFull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  html +=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R"rawliteral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function beep() 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let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ctx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= new (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window.AudioContext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||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window.webkitAudioContext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)();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let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osc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ctx.createOscillator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osc.type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= "sine";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osc.frequency.setValueAtTime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(1000,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ctx.currentTime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osc.connect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ctx.destination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osc.start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setTimeout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(() =&gt; { </a:t>
            </a:r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osc.stop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(); }, 200);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941C1-17BD-EB25-1993-BC4DADB98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pic>
        <p:nvPicPr>
          <p:cNvPr id="2" name="Picture 2" descr="Download and install Arduino IDE ...">
            <a:extLst>
              <a:ext uri="{FF2B5EF4-FFF2-40B4-BE49-F238E27FC236}">
                <a16:creationId xmlns:a16="http://schemas.microsoft.com/office/drawing/2014/main" id="{AC2EBB7D-545D-ADC2-5C66-E38E56BFF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08" y="961013"/>
            <a:ext cx="1764923" cy="14635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8BB424C-B429-F03D-84D9-F66F8391CEB8}"/>
              </a:ext>
            </a:extLst>
          </p:cNvPr>
          <p:cNvSpPr/>
          <p:nvPr/>
        </p:nvSpPr>
        <p:spPr>
          <a:xfrm>
            <a:off x="403123" y="373626"/>
            <a:ext cx="8239432" cy="559455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366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482B3-5E5F-9F6A-1BCD-C6C9067E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D82E7D-84C8-B0CC-A23B-DDA06F953414}"/>
              </a:ext>
            </a:extLst>
          </p:cNvPr>
          <p:cNvSpPr txBox="1"/>
          <p:nvPr/>
        </p:nvSpPr>
        <p:spPr>
          <a:xfrm>
            <a:off x="3335481" y="591345"/>
            <a:ext cx="5179868" cy="5121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kern="12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beep();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 err="1">
                <a:solidFill>
                  <a:schemeClr val="bg1"/>
                </a:solidFill>
              </a:rPr>
              <a:t>setTimeout</a:t>
            </a:r>
            <a:r>
              <a:rPr lang="en-US" kern="1200" dirty="0">
                <a:solidFill>
                  <a:schemeClr val="bg1"/>
                </a:solidFill>
              </a:rPr>
              <a:t>(beep, 300);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)</a:t>
            </a:r>
            <a:r>
              <a:rPr lang="en-US" kern="1200" dirty="0" err="1">
                <a:solidFill>
                  <a:schemeClr val="bg1"/>
                </a:solidFill>
              </a:rPr>
              <a:t>rawliteral</a:t>
            </a:r>
            <a:r>
              <a:rPr lang="en-US" kern="1200" dirty="0">
                <a:solidFill>
                  <a:schemeClr val="bg1"/>
                </a:solidFill>
              </a:rPr>
              <a:t>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}</a:t>
            </a:r>
            <a:br>
              <a:rPr lang="en-US" kern="1200" dirty="0">
                <a:solidFill>
                  <a:schemeClr val="bg1"/>
                </a:solidFill>
              </a:rPr>
            </a:br>
            <a:endParaRPr lang="en-US" kern="1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html += </a:t>
            </a:r>
            <a:r>
              <a:rPr lang="en-US" kern="1200" dirty="0" err="1">
                <a:solidFill>
                  <a:schemeClr val="bg1"/>
                </a:solidFill>
              </a:rPr>
              <a:t>R"rawliteral</a:t>
            </a:r>
            <a:r>
              <a:rPr lang="en-US" kern="1200" dirty="0">
                <a:solidFill>
                  <a:schemeClr val="bg1"/>
                </a:solidFill>
              </a:rPr>
              <a:t>(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&lt;/script&gt;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kern="1200" dirty="0">
                <a:solidFill>
                  <a:schemeClr val="bg1"/>
                </a:solidFill>
              </a:rPr>
            </a:br>
            <a:endParaRPr lang="en-US" kern="1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&lt;/body&gt;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&lt;/html&gt;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)</a:t>
            </a:r>
            <a:r>
              <a:rPr lang="en-US" kern="1200" dirty="0" err="1">
                <a:solidFill>
                  <a:schemeClr val="bg1"/>
                </a:solidFill>
              </a:rPr>
              <a:t>rawliteral</a:t>
            </a:r>
            <a:r>
              <a:rPr lang="en-US" kern="1200" dirty="0">
                <a:solidFill>
                  <a:schemeClr val="bg1"/>
                </a:solidFill>
              </a:rPr>
              <a:t>";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kern="1200" dirty="0">
                <a:solidFill>
                  <a:schemeClr val="bg1"/>
                </a:solidFill>
              </a:rPr>
            </a:br>
            <a:endParaRPr lang="en-US" kern="1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  </a:t>
            </a:r>
            <a:r>
              <a:rPr lang="en-US" kern="1200" dirty="0" err="1">
                <a:solidFill>
                  <a:schemeClr val="bg1"/>
                </a:solidFill>
              </a:rPr>
              <a:t>server.send</a:t>
            </a:r>
            <a:r>
              <a:rPr lang="en-US" kern="1200" dirty="0">
                <a:solidFill>
                  <a:schemeClr val="bg1"/>
                </a:solidFill>
              </a:rPr>
              <a:t>(200, "text/html", html);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346D1-57AB-815F-CCD1-BCE8389BE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pic>
        <p:nvPicPr>
          <p:cNvPr id="2" name="Picture 2" descr="Download and install Arduino IDE ...">
            <a:extLst>
              <a:ext uri="{FF2B5EF4-FFF2-40B4-BE49-F238E27FC236}">
                <a16:creationId xmlns:a16="http://schemas.microsoft.com/office/drawing/2014/main" id="{B96E76FE-544D-13D6-6B88-BB0181AAF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08" y="1511619"/>
            <a:ext cx="1764923" cy="14635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0318B0-54A0-66BB-E3F0-C57F4D3620EF}"/>
              </a:ext>
            </a:extLst>
          </p:cNvPr>
          <p:cNvSpPr/>
          <p:nvPr/>
        </p:nvSpPr>
        <p:spPr>
          <a:xfrm>
            <a:off x="432619" y="373626"/>
            <a:ext cx="8278762" cy="533891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14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44FCE-1A33-3187-43E1-3BD94563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07FF67-66FF-5F73-6F1B-882CBE51C830}"/>
              </a:ext>
            </a:extLst>
          </p:cNvPr>
          <p:cNvSpPr txBox="1"/>
          <p:nvPr/>
        </p:nvSpPr>
        <p:spPr>
          <a:xfrm>
            <a:off x="3335481" y="186813"/>
            <a:ext cx="5179868" cy="577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void setup()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pinMode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(TRIG_PIN, OUTPUT);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pinMode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(ECHO_PIN, INPUT);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Serial.begin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(115200);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WiFi.begin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ssid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, password);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Serial.print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("Connecting to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WiFi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while (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WiFi.status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() != WL_CONNECTED)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  delay(500);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Serial.print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(".");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}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Serial.println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("\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nWiFi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 Connected!");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Serial.print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("IP Address: ");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Serial.println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WiFi.localIP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// Start server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server.on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("/",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handleRoot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server.begin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kern="1200" dirty="0" err="1">
                <a:solidFill>
                  <a:srgbClr val="08E8CD"/>
                </a:solidFill>
                <a:latin typeface="+mn-lt"/>
                <a:ea typeface="+mn-ea"/>
                <a:cs typeface="+mn-cs"/>
              </a:rPr>
              <a:t>Serial.println</a:t>
            </a: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("Web server started!");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dirty="0">
                <a:solidFill>
                  <a:srgbClr val="08E8CD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kern="1200" dirty="0">
              <a:solidFill>
                <a:srgbClr val="08E8CD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void loop()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  </a:t>
            </a:r>
            <a:r>
              <a:rPr lang="en-US" sz="1200" b="1" kern="1200" dirty="0" err="1">
                <a:solidFill>
                  <a:srgbClr val="FFC000"/>
                </a:solidFill>
                <a:latin typeface="+mn-lt"/>
                <a:ea typeface="+mn-ea"/>
                <a:cs typeface="+mn-cs"/>
              </a:rPr>
              <a:t>server.handleClient</a:t>
            </a:r>
            <a:r>
              <a:rPr lang="en-US" sz="1200" b="1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(); // IMPORTANT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kern="1200" dirty="0">
                <a:solidFill>
                  <a:srgbClr val="FFC000"/>
                </a:solidFill>
                <a:latin typeface="+mn-lt"/>
                <a:ea typeface="+mn-ea"/>
                <a:cs typeface="+mn-cs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12DD0-038B-5817-80AC-89519A932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pic>
        <p:nvPicPr>
          <p:cNvPr id="2" name="Picture 2" descr="Download and install Arduino IDE ...">
            <a:extLst>
              <a:ext uri="{FF2B5EF4-FFF2-40B4-BE49-F238E27FC236}">
                <a16:creationId xmlns:a16="http://schemas.microsoft.com/office/drawing/2014/main" id="{68E70BC7-5B7D-9DA2-B871-783F3D7ED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4" y="873934"/>
            <a:ext cx="1764923" cy="14635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19D327-3F17-0670-467F-641A1C37E3D9}"/>
              </a:ext>
            </a:extLst>
          </p:cNvPr>
          <p:cNvSpPr/>
          <p:nvPr/>
        </p:nvSpPr>
        <p:spPr>
          <a:xfrm>
            <a:off x="288730" y="265471"/>
            <a:ext cx="8566540" cy="559455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698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64CB5-EB77-B127-206F-0A151B57F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181" y="865239"/>
            <a:ext cx="5048162" cy="580102"/>
          </a:xfrm>
        </p:spPr>
        <p:txBody>
          <a:bodyPr>
            <a:noAutofit/>
          </a:bodyPr>
          <a:lstStyle/>
          <a:p>
            <a:r>
              <a:rPr lang="en-GB" sz="4000" u="sng" dirty="0">
                <a:highlight>
                  <a:srgbClr val="FFFF00"/>
                </a:highlight>
                <a:latin typeface="Arial Black" panose="020B0A04020102020204" pitchFamily="34" charset="0"/>
              </a:rPr>
              <a:t>DASHBOARD:</a:t>
            </a:r>
            <a:endParaRPr lang="en-IN" sz="4000" u="sng" dirty="0">
              <a:highlight>
                <a:srgbClr val="FFFF00"/>
              </a:highlight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B5838-2CF4-7446-9312-56FBD1383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E4E0C-E006-8C07-DA3F-5DF2CF3BB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5B0934-B9CF-E14C-F48B-8FA69BC11150}"/>
              </a:ext>
            </a:extLst>
          </p:cNvPr>
          <p:cNvSpPr/>
          <p:nvPr/>
        </p:nvSpPr>
        <p:spPr>
          <a:xfrm>
            <a:off x="275303" y="304800"/>
            <a:ext cx="8603226" cy="6282813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480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r>
              <a:rPr lang="en-IN" alt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7" name="Google Shape;167;p25" descr="1583389585phpP9W1tB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096000"/>
            <a:ext cx="133984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0073AA-7A4B-1FD9-5A30-49DC014B6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79" y="282677"/>
            <a:ext cx="8642042" cy="55281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FF9D-59F6-5F13-F1BD-B8866FB8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928" y="365126"/>
            <a:ext cx="5977422" cy="132556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Arial Black" panose="020B0A04020102020204" pitchFamily="34" charset="0"/>
              </a:rPr>
              <a:t>ADVANTAGES:</a:t>
            </a:r>
            <a:endParaRPr lang="en-IN" sz="4000" b="1" u="sn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D23A3-BE03-3D0B-F698-5CE5BE8C8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MONITOR GARBAGE LEVEL AUTOMATICALLY</a:t>
            </a:r>
          </a:p>
          <a:p>
            <a:r>
              <a:rPr lang="en-US" dirty="0">
                <a:latin typeface="Algerian" panose="04020705040A02060702" pitchFamily="82" charset="0"/>
              </a:rPr>
              <a:t>AVOID GARBAGE OVERFLOW</a:t>
            </a:r>
          </a:p>
          <a:p>
            <a:r>
              <a:rPr lang="en-US" dirty="0">
                <a:latin typeface="Algerian" panose="04020705040A02060702" pitchFamily="82" charset="0"/>
              </a:rPr>
              <a:t>IMPROVE CITY CLEANLINESS</a:t>
            </a:r>
          </a:p>
          <a:p>
            <a:r>
              <a:rPr lang="en-US" dirty="0">
                <a:latin typeface="Algerian" panose="04020705040A02060702" pitchFamily="82" charset="0"/>
              </a:rPr>
              <a:t>REDUCE UNNECESSARY GARBAGE TRIPS</a:t>
            </a:r>
          </a:p>
          <a:p>
            <a:r>
              <a:rPr lang="en-US" dirty="0">
                <a:latin typeface="Algerian" panose="04020705040A02060702" pitchFamily="82" charset="0"/>
              </a:rPr>
              <a:t>Touch free operation</a:t>
            </a:r>
          </a:p>
          <a:p>
            <a:r>
              <a:rPr lang="en-US" dirty="0">
                <a:latin typeface="Algerian" panose="04020705040A02060702" pitchFamily="82" charset="0"/>
              </a:rPr>
              <a:t>Improves hygiene</a:t>
            </a:r>
          </a:p>
          <a:p>
            <a:r>
              <a:rPr lang="en-US" dirty="0">
                <a:latin typeface="Algerian" panose="04020705040A02060702" pitchFamily="82" charset="0"/>
              </a:rPr>
              <a:t>Easy to use</a:t>
            </a:r>
          </a:p>
          <a:p>
            <a:r>
              <a:rPr lang="en-US" dirty="0">
                <a:latin typeface="Algerian" panose="04020705040A02060702" pitchFamily="82" charset="0"/>
              </a:rPr>
              <a:t>BUDGET FRIENDLY project</a:t>
            </a:r>
          </a:p>
          <a:p>
            <a:r>
              <a:rPr lang="en-US" dirty="0">
                <a:latin typeface="Algerian" panose="04020705040A02060702" pitchFamily="82" charset="0"/>
              </a:rPr>
              <a:t>Suitable for homes, schools, and public places.</a:t>
            </a:r>
          </a:p>
          <a:p>
            <a:endParaRPr lang="en-US" dirty="0">
              <a:latin typeface="Algerian" panose="04020705040A02060702" pitchFamily="82" charset="0"/>
            </a:endParaRPr>
          </a:p>
          <a:p>
            <a:endParaRPr lang="en-US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endParaRPr lang="en-US" dirty="0">
              <a:latin typeface="Algerian" panose="04020705040A02060702" pitchFamily="82" charset="0"/>
            </a:endParaRPr>
          </a:p>
          <a:p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EC4155-63AB-04F0-1D41-CCEB71EC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5AE427-73D0-DCB1-9D65-FA5EBB32B095}"/>
              </a:ext>
            </a:extLst>
          </p:cNvPr>
          <p:cNvSpPr/>
          <p:nvPr/>
        </p:nvSpPr>
        <p:spPr>
          <a:xfrm>
            <a:off x="471948" y="491613"/>
            <a:ext cx="8190271" cy="5122606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983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7612F1-9813-42BE-C93B-1FA0A719C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271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F0C282-D252-264F-B62A-06539C601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81725"/>
            <a:ext cx="9143999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865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Words>1399</Words>
  <Application>Microsoft Office PowerPoint</Application>
  <PresentationFormat>On-screen Show (4:3)</PresentationFormat>
  <Paragraphs>257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Algerian</vt:lpstr>
      <vt:lpstr>Arial</vt:lpstr>
      <vt:lpstr>Arial Black</vt:lpstr>
      <vt:lpstr>Bahnschrift</vt:lpstr>
      <vt:lpstr>Calibri</vt:lpstr>
      <vt:lpstr>Calibri Light</vt:lpstr>
      <vt:lpstr>Times New Roman</vt:lpstr>
      <vt:lpstr>Office Theme</vt:lpstr>
      <vt:lpstr>DESIGN THINKING SMART GARBAGE BIN</vt:lpstr>
      <vt:lpstr>PowerPoint Presentation</vt:lpstr>
      <vt:lpstr>SOLUTION(IDEATE):</vt:lpstr>
      <vt:lpstr>PROTOTYPE:</vt:lpstr>
      <vt:lpstr>COMPONENTS USED:</vt:lpstr>
      <vt:lpstr>SOFTWARE USED: ARDUINO IDE</vt:lpstr>
      <vt:lpstr>WORKING PRINCIPLE(TESTING):</vt:lpstr>
      <vt:lpstr>PowerPoint Presentation</vt:lpstr>
      <vt:lpstr>CIRCUIT DIAGRAM: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DASHBOARD:</vt:lpstr>
      <vt:lpstr>PowerPoint Presentation</vt:lpstr>
      <vt:lpstr>ADVANTAGES: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Intel</dc:creator>
  <cp:lastModifiedBy>Siddharth sivaram</cp:lastModifiedBy>
  <cp:revision>34</cp:revision>
  <dcterms:created xsi:type="dcterms:W3CDTF">2026-03-30T02:47:21Z</dcterms:created>
  <dcterms:modified xsi:type="dcterms:W3CDTF">2026-04-12T16:33:17Z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BCE0C4206BD34474BD96AFDBDB0F4DB7_12</vt:lpwstr>
  </property>
  <property fmtid="{D5CDD505-2E9C-101B-9397-08002B2CF9AE}" pid="3" name="KSOProductBuildVer">
    <vt:lpwstr>1033-12.2.0.23196</vt:lpwstr>
  </property>
</Properties>
</file>